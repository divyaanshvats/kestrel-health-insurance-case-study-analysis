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Contained</c:v>
                </c:pt>
              </c:strCache>
            </c:strRef>
          </c:tx>
          <c:spPr>
            <a:solidFill>
              <a:srgbClr val="D6402C"/>
            </a:solidFill>
            <a:ln w="38100" cap="flat">
              <a:solidFill>
                <a:srgbClr val="D6402C"/>
              </a:solidFill>
              <a:prstDash val="solid"/>
              <a:round/>
            </a:ln>
            <a:effectLst/>
          </c:spPr>
          <c:invertIfNegative val="0"/>
          <c:dLbls>
            <c:numFmt formatCode="0.0&quot;%&quot;" sourceLinked="0"/>
            <c:txPr>
              <a:bodyPr/>
              <a:lstStyle/>
              <a:p>
                <a:pPr>
                  <a:defRPr b="1" i="0" strike="noStrike" sz="1200" u="none">
                    <a:solidFill>
                      <a:srgbClr val="D6402C"/>
                    </a:solidFill>
                    <a:latin typeface="Calibri"/>
                  </a:defRPr>
                </a:pPr>
              </a:p>
            </c:txPr>
            <c:dLblPos val="t"/>
            <c:showLegendKey val="0"/>
            <c:showVal val="1"/>
            <c:showCatName val="0"/>
            <c:showSerName val="0"/>
            <c:showPercent val="0"/>
            <c:showBubbleSize val="0"/>
            <c:showLeaderLines val="0"/>
          </c:dLbls>
          <c:marker>
            <c:symbol val="circle"/>
            <c:size val="9"/>
            <c:spPr>
              <a:solidFill>
                <a:srgbClr val="D6402C"/>
              </a:solidFill>
              <a:ln w="9525" cap="flat">
                <a:solidFill>
                  <a:srgbClr val="D6402C"/>
                </a:solidFill>
                <a:prstDash val="solid"/>
                <a:round/>
              </a:ln>
              <a:effectLst/>
            </c:spPr>
          </c:marker>
          <c:cat>
            <c:multiLvlStrRef>
              <c:f>Sheet1!$A$2:$A$4</c:f>
              <c:multiLvlStrCache>
                <c:ptCount val="3"/>
                <c:lvl>
                  <c:pt idx="0">
                    <c:v>Week 1</c:v>
                  </c:pt>
                  <c:pt idx="1">
                    <c:v>Week 2</c:v>
                  </c:pt>
                  <c:pt idx="2">
                    <c:v>Week 3</c:v>
                  </c:pt>
                </c:lvl>
              </c:multiLvlStrCache>
            </c:multiLvlStrRef>
          </c:cat>
          <c:val>
            <c:numRef>
              <c:f>Sheet1!$B$2:$B$4</c:f>
              <c:numCache>
                <c:formatCode>General</c:formatCode>
                <c:ptCount val="3"/>
                <c:pt idx="0">
                  <c:v>71.5</c:v>
                </c:pt>
                <c:pt idx="1">
                  <c:v>62.3</c:v>
                </c:pt>
                <c:pt idx="2">
                  <c:v>51.1</c:v>
                </c:pt>
              </c:numCache>
            </c:numRef>
          </c:val>
          <c:smooth val="0"/>
        </c:ser>
        <c:dLbls>
          <c:numFmt formatCode="0.0&quot;%&quot;" sourceLinked="0"/>
          <c:txPr>
            <a:bodyPr/>
            <a:lstStyle/>
            <a:p>
              <a:pPr>
                <a:defRPr b="1" i="0" strike="noStrike" sz="1200" u="none">
                  <a:solidFill>
                    <a:srgbClr val="D6402C"/>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Transferred</c:v>
                </c:pt>
              </c:strCache>
            </c:strRef>
          </c:tx>
          <c:spPr>
            <a:solidFill>
              <a:srgbClr val="14202B"/>
            </a:solidFill>
            <a:ln w="38100" cap="flat">
              <a:solidFill>
                <a:srgbClr val="14202B"/>
              </a:solidFill>
              <a:prstDash val="solid"/>
              <a:round/>
            </a:ln>
            <a:effectLst/>
          </c:spPr>
          <c:invertIfNegative val="0"/>
          <c:dLbls>
            <c:numFmt formatCode="0.0&quot;%&quot;" sourceLinked="0"/>
            <c:txPr>
              <a:bodyPr/>
              <a:lstStyle/>
              <a:p>
                <a:pPr>
                  <a:defRPr b="1" i="0" strike="noStrike" sz="1200" u="none">
                    <a:solidFill>
                      <a:srgbClr val="14202B"/>
                    </a:solidFill>
                    <a:latin typeface="Calibri"/>
                  </a:defRPr>
                </a:pPr>
              </a:p>
            </c:txPr>
            <c:dLblPos val="b"/>
            <c:showLegendKey val="0"/>
            <c:showVal val="1"/>
            <c:showCatName val="0"/>
            <c:showSerName val="0"/>
            <c:showPercent val="0"/>
            <c:showBubbleSize val="0"/>
            <c:showLeaderLines val="0"/>
          </c:dLbls>
          <c:marker>
            <c:symbol val="circle"/>
            <c:size val="9"/>
            <c:spPr>
              <a:solidFill>
                <a:srgbClr val="14202B"/>
              </a:solidFill>
              <a:ln w="9525" cap="flat">
                <a:solidFill>
                  <a:srgbClr val="14202B"/>
                </a:solidFill>
                <a:prstDash val="solid"/>
                <a:round/>
              </a:ln>
              <a:effectLst/>
            </c:spPr>
          </c:marker>
          <c:cat>
            <c:multiLvlStrRef>
              <c:f>Sheet1!$A$2:$A$4</c:f>
              <c:multiLvlStrCache>
                <c:ptCount val="3"/>
                <c:lvl>
                  <c:pt idx="0">
                    <c:v>Week 1</c:v>
                  </c:pt>
                  <c:pt idx="1">
                    <c:v>Week 2</c:v>
                  </c:pt>
                  <c:pt idx="2">
                    <c:v>Week 3</c:v>
                  </c:pt>
                </c:lvl>
              </c:multiLvlStrCache>
            </c:multiLvlStrRef>
          </c:cat>
          <c:val>
            <c:numRef>
              <c:f>Sheet1!$C$2:$C$4</c:f>
              <c:numCache>
                <c:formatCode>General</c:formatCode>
                <c:ptCount val="3"/>
                <c:pt idx="0">
                  <c:v>28.5</c:v>
                </c:pt>
                <c:pt idx="1">
                  <c:v>37.7</c:v>
                </c:pt>
                <c:pt idx="2">
                  <c:v>48.9</c:v>
                </c:pt>
              </c:numCache>
            </c:numRef>
          </c:val>
          <c:smooth val="0"/>
        </c:ser>
        <c:dLbls>
          <c:numFmt formatCode="0.0&quot;%&quot;" sourceLinked="0"/>
          <c:txPr>
            <a:bodyPr/>
            <a:lstStyle/>
            <a:p>
              <a:pPr>
                <a:defRPr b="1" i="0" strike="noStrike" sz="1200" u="none">
                  <a:solidFill>
                    <a:srgbClr val="14202B"/>
                  </a:solidFill>
                  <a:latin typeface="Calibri"/>
                </a:defRPr>
              </a:pPr>
            </a:p>
          </c:txPr>
          <c:dLblPos val="b"/>
          <c:showLegendKey val="0"/>
          <c:showVal val="1"/>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Abandoned</c:v>
                </c:pt>
              </c:strCache>
            </c:strRef>
          </c:tx>
          <c:spPr>
            <a:solidFill>
              <a:srgbClr val="7A8A94"/>
            </a:solidFill>
            <a:ln w="38100" cap="flat">
              <a:solidFill>
                <a:srgbClr val="7A8A94"/>
              </a:solidFill>
              <a:prstDash val="solid"/>
              <a:round/>
            </a:ln>
            <a:effectLst/>
          </c:spPr>
          <c:invertIfNegative val="0"/>
          <c:dLbls>
            <c:numFmt formatCode="0.0&quot;%&quot;" sourceLinked="0"/>
            <c:txPr>
              <a:bodyPr/>
              <a:lstStyle/>
              <a:p>
                <a:pPr>
                  <a:defRPr b="1" i="0" strike="noStrike" sz="1200" u="none">
                    <a:solidFill>
                      <a:srgbClr val="7A8A94"/>
                    </a:solidFill>
                    <a:latin typeface="Calibri"/>
                  </a:defRPr>
                </a:pPr>
              </a:p>
            </c:txPr>
            <c:dLblPos val="t"/>
            <c:showLegendKey val="0"/>
            <c:showVal val="1"/>
            <c:showCatName val="0"/>
            <c:showSerName val="0"/>
            <c:showPercent val="0"/>
            <c:showBubbleSize val="0"/>
            <c:showLeaderLines val="0"/>
          </c:dLbls>
          <c:marker>
            <c:symbol val="circle"/>
            <c:size val="9"/>
            <c:spPr>
              <a:solidFill>
                <a:srgbClr val="7A8A94"/>
              </a:solidFill>
              <a:ln w="9525" cap="flat">
                <a:solidFill>
                  <a:srgbClr val="7A8A94"/>
                </a:solidFill>
                <a:prstDash val="solid"/>
                <a:round/>
              </a:ln>
              <a:effectLst/>
            </c:spPr>
          </c:marker>
          <c:cat>
            <c:multiLvlStrRef>
              <c:f>Sheet1!$A$2:$A$4</c:f>
              <c:multiLvlStrCache>
                <c:ptCount val="3"/>
                <c:lvl>
                  <c:pt idx="0">
                    <c:v>Week 1</c:v>
                  </c:pt>
                  <c:pt idx="1">
                    <c:v>Week 2</c:v>
                  </c:pt>
                  <c:pt idx="2">
                    <c:v>Week 3</c:v>
                  </c:pt>
                </c:lvl>
              </c:multiLvlStrCache>
            </c:multiLvlStrRef>
          </c:cat>
          <c:val>
            <c:numRef>
              <c:f>Sheet1!$D$2:$D$4</c:f>
              <c:numCache>
                <c:formatCode>General</c:formatCode>
                <c:ptCount val="3"/>
                <c:pt idx="0">
                  <c:v>2.3</c:v>
                </c:pt>
                <c:pt idx="1">
                  <c:v>3.2</c:v>
                </c:pt>
                <c:pt idx="2">
                  <c:v>3.5</c:v>
                </c:pt>
              </c:numCache>
            </c:numRef>
          </c:val>
          <c:smooth val="0"/>
        </c:ser>
        <c:dLbls>
          <c:numFmt formatCode="0.0&quot;%&quot;" sourceLinked="0"/>
          <c:txPr>
            <a:bodyPr/>
            <a:lstStyle/>
            <a:p>
              <a:pPr>
                <a:defRPr b="1" i="0" strike="noStrike" sz="1200" u="none">
                  <a:solidFill>
                    <a:srgbClr val="7A8A94"/>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02B"/>
                </a:solidFill>
                <a:latin typeface="Calibri"/>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C9D2D4"/>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A94"/>
                </a:solidFill>
                <a:latin typeface="Calibri"/>
              </a:defRPr>
            </a:pPr>
            <a:endParaRPr lang="en-US"/>
          </a:p>
        </c:txPr>
        <c:crossAx val="2094734554"/>
        <c:crosses val="autoZero"/>
        <c:crossBetween val="between"/>
      </c:valAx>
      <c:spPr>
        <a:solidFill>
          <a:srgbClr val="F2F4F3"/>
        </a:solidFill>
        <a:ln w="12700" cap="flat">
          <a:solidFill>
            <a:srgbClr val="F2F4F3"/>
          </a:solidFill>
        </a:ln>
        <a:effectLst/>
      </c:spPr>
    </c:plotArea>
    <c:legend>
      <c:legendPos val="r"/>
      <c:overlay val="0"/>
      <c:txPr>
        <a:bodyPr/>
        <a:lstStyle/>
        <a:p>
          <a:pPr>
            <a:defRPr sz="1300">
              <a:solidFill>
                <a:srgbClr val="14202B"/>
              </a:solidFill>
              <a:latin typeface="Calibri"/>
              <a:cs typeface="Calibri"/>
            </a:defRPr>
          </a:pPr>
          <a:endParaRPr lang="en-US"/>
        </a:p>
      </c:txPr>
    </c:legend>
    <c:plotVisOnly val="1"/>
    <c:dispBlanksAs val="span"/>
  </c:chart>
  <c:spPr>
    <a:solidFill>
      <a:srgbClr val="F2F4F3"/>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v14</c:v>
                </c:pt>
              </c:strCache>
            </c:strRef>
          </c:tx>
          <c:spPr>
            <a:solidFill>
              <a:srgbClr val="7A8A94"/>
            </a:solidFill>
            <a:effectLst/>
          </c:spPr>
          <c:invertIfNegative val="0"/>
          <c:dLbls>
            <c:numFmt formatCode="0.0&quot;%&quot;" sourceLinked="0"/>
            <c:txPr>
              <a:bodyPr/>
              <a:lstStyle/>
              <a:p>
                <a:pPr>
                  <a:defRPr b="1" i="0" strike="noStrike" sz="1200" u="none">
                    <a:solidFill>
                      <a:srgbClr val="000000"/>
                    </a:solidFill>
                    <a:latin typeface="Calibri"/>
                  </a:defRPr>
                </a:pPr>
              </a:p>
            </c:txPr>
            <c:dLblPos val="outEnd"/>
            <c:showLegendKey val="0"/>
            <c:showVal val="1"/>
            <c:showCatName val="0"/>
            <c:showSerName val="0"/>
            <c:showPercent val="0"/>
            <c:showBubbleSize val="0"/>
            <c:showLeaderLines val="0"/>
          </c:dLbls>
          <c:cat>
            <c:multiLvlStrRef>
              <c:f>Sheet1!$A$2:$A$3</c:f>
              <c:multiLvlStrCache>
                <c:ptCount val="2"/>
                <c:lvl>
                  <c:pt idx="0">
                    <c:v>Week 2 — both live</c:v>
                  </c:pt>
                  <c:pt idx="1">
                    <c:v>Week 3 — v15 only</c:v>
                  </c:pt>
                </c:lvl>
              </c:multiLvlStrCache>
            </c:multiLvlStrRef>
          </c:cat>
          <c:val>
            <c:numRef>
              <c:f>Sheet1!$B$2:$B$3</c:f>
              <c:numCache>
                <c:formatCode>General</c:formatCode>
                <c:ptCount val="2"/>
                <c:pt idx="0">
                  <c:v>66.98</c:v>
                </c:pt>
                <c:pt idx="1">
                  <c:v/>
                </c:pt>
              </c:numCache>
            </c:numRef>
          </c:val>
        </c:ser>
        <c:ser>
          <c:idx val="1"/>
          <c:order val="1"/>
          <c:tx>
            <c:strRef>
              <c:f>Sheet1!$C$1</c:f>
              <c:strCache>
                <c:ptCount val="1"/>
                <c:pt idx="0">
                  <c:v>v15</c:v>
                </c:pt>
              </c:strCache>
            </c:strRef>
          </c:tx>
          <c:spPr>
            <a:solidFill>
              <a:srgbClr val="D6402C"/>
            </a:solidFill>
            <a:effectLst/>
          </c:spPr>
          <c:invertIfNegative val="0"/>
          <c:dLbls>
            <c:numFmt formatCode="0.0&quot;%&quot;" sourceLinked="0"/>
            <c:txPr>
              <a:bodyPr/>
              <a:lstStyle/>
              <a:p>
                <a:pPr>
                  <a:defRPr b="1" i="0" strike="noStrike" sz="1200" u="none">
                    <a:solidFill>
                      <a:srgbClr val="000000"/>
                    </a:solidFill>
                    <a:latin typeface="Calibri"/>
                  </a:defRPr>
                </a:pPr>
              </a:p>
            </c:txPr>
            <c:dLblPos val="outEnd"/>
            <c:showLegendKey val="0"/>
            <c:showVal val="1"/>
            <c:showCatName val="0"/>
            <c:showSerName val="0"/>
            <c:showPercent val="0"/>
            <c:showBubbleSize val="0"/>
            <c:showLeaderLines val="0"/>
          </c:dLbls>
          <c:cat>
            <c:multiLvlStrRef>
              <c:f>Sheet1!$A$2:$A$3</c:f>
              <c:multiLvlStrCache>
                <c:ptCount val="2"/>
                <c:lvl>
                  <c:pt idx="0">
                    <c:v>Week 2 — both live</c:v>
                  </c:pt>
                  <c:pt idx="1">
                    <c:v>Week 3 — v15 only</c:v>
                  </c:pt>
                </c:lvl>
              </c:multiLvlStrCache>
            </c:multiLvlStrRef>
          </c:cat>
          <c:val>
            <c:numRef>
              <c:f>Sheet1!$C$2:$C$3</c:f>
              <c:numCache>
                <c:formatCode>General</c:formatCode>
                <c:ptCount val="2"/>
                <c:pt idx="0">
                  <c:v>55.29</c:v>
                </c:pt>
                <c:pt idx="1">
                  <c:v>51.12</c:v>
                </c:pt>
              </c:numCache>
            </c:numRef>
          </c:val>
        </c:ser>
        <c:dLbls>
          <c:numFmt formatCode="0.0&quot;%&quot;" sourceLinked="0"/>
          <c:txPr>
            <a:bodyPr/>
            <a:lstStyle/>
            <a:p>
              <a:pPr>
                <a:defRPr b="1" i="0" strike="noStrike" sz="1200" u="none">
                  <a:solidFill>
                    <a:srgbClr val="000000"/>
                  </a:solidFill>
                  <a:latin typeface="Calibri"/>
                </a:defRPr>
              </a:pPr>
            </a:p>
          </c:txPr>
          <c:dLblPos val="outEnd"/>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02B"/>
                </a:solidFill>
                <a:latin typeface="Calibri"/>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C9D2D4"/>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A94"/>
                </a:solidFill>
                <a:latin typeface="Calibri"/>
              </a:defRPr>
            </a:pPr>
            <a:endParaRPr lang="en-US"/>
          </a:p>
        </c:txPr>
        <c:crossAx val="2094734554"/>
        <c:crosses val="autoZero"/>
        <c:crossBetween val="between"/>
      </c:valAx>
      <c:spPr>
        <a:solidFill>
          <a:srgbClr val="F2F4F3"/>
        </a:solidFill>
        <a:ln w="12700" cap="flat">
          <a:solidFill>
            <a:srgbClr val="F2F4F3"/>
          </a:solidFill>
        </a:ln>
        <a:effectLst/>
      </c:spPr>
    </c:plotArea>
    <c:legend>
      <c:legendPos val="r"/>
      <c:overlay val="0"/>
      <c:txPr>
        <a:bodyPr/>
        <a:lstStyle/>
        <a:p>
          <a:pPr>
            <a:defRPr sz="1300">
              <a:solidFill>
                <a:srgbClr val="14202B"/>
              </a:solidFill>
              <a:latin typeface="Calibri"/>
              <a:cs typeface="Calibri"/>
            </a:defRPr>
          </a:pPr>
          <a:endParaRPr lang="en-US"/>
        </a:p>
      </c:txPr>
    </c:legend>
    <c:plotVisOnly val="1"/>
    <c:dispBlanksAs val="span"/>
  </c:chart>
  <c:spPr>
    <a:solidFill>
      <a:srgbClr val="F2F4F3"/>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Gap in percentage points</c:v>
                </c:pt>
              </c:strCache>
            </c:strRef>
          </c:tx>
          <c:spPr>
            <a:solidFill>
              <a:srgbClr val="7A8A94"/>
            </a:solidFill>
            <a:effectLst/>
          </c:spPr>
          <c:invertIfNegative val="0"/>
          <c:dLbls>
            <c:numFmt formatCode="0.0&quot; pp&quot;" sourceLinked="0"/>
            <c:txPr>
              <a:bodyPr/>
              <a:lstStyle/>
              <a:p>
                <a:pPr>
                  <a:defRPr b="1" i="0" strike="noStrike" sz="1200" u="none">
                    <a:solidFill>
                      <a:srgbClr val="000000"/>
                    </a:solidFill>
                    <a:latin typeface="Calibri"/>
                  </a:defRPr>
                </a:pPr>
              </a:p>
            </c:txPr>
            <c:dLblPos val="outEnd"/>
            <c:showLegendKey val="0"/>
            <c:showVal val="1"/>
            <c:showCatName val="0"/>
            <c:showSerName val="0"/>
            <c:showPercent val="0"/>
            <c:showBubbleSize val="0"/>
            <c:showLeaderLines val="0"/>
          </c:dLbls>
          <c:dPt>
            <c:idx val="0"/>
            <c:invertIfNegative val="0"/>
            <c:bubble3D val="0"/>
            <c:spPr>
              <a:solidFill>
                <a:srgbClr val="7A8A94"/>
              </a:solidFill>
              <a:effectLst/>
            </c:spPr>
          </c:dPt>
          <c:dPt>
            <c:idx val="1"/>
            <c:invertIfNegative val="0"/>
            <c:bubble3D val="0"/>
            <c:spPr>
              <a:solidFill>
                <a:srgbClr val="7A8A94"/>
              </a:solidFill>
              <a:effectLst/>
            </c:spPr>
          </c:dPt>
          <c:dPt>
            <c:idx val="2"/>
            <c:invertIfNegative val="0"/>
            <c:bubble3D val="0"/>
            <c:spPr>
              <a:solidFill>
                <a:srgbClr val="7A8A94"/>
              </a:solidFill>
              <a:effectLst/>
            </c:spPr>
          </c:dPt>
          <c:dPt>
            <c:idx val="3"/>
            <c:invertIfNegative val="0"/>
            <c:bubble3D val="0"/>
            <c:spPr>
              <a:solidFill>
                <a:srgbClr val="D6402C"/>
              </a:solidFill>
              <a:effectLst/>
            </c:spPr>
          </c:dPt>
          <c:cat>
            <c:multiLvlStrRef>
              <c:f>Sheet1!$A$2:$A$5</c:f>
              <c:multiLvlStrCache>
                <c:ptCount val="4"/>
                <c:lvl>
                  <c:pt idx="0">
                    <c:v>network_hospital</c:v>
                  </c:pt>
                  <c:pt idx="1">
                    <c:v>policy_details</c:v>
                  </c:pt>
                  <c:pt idx="2">
                    <c:v>renewal_premium</c:v>
                  </c:pt>
                  <c:pt idx="3">
                    <c:v>claim_status</c:v>
                  </c:pt>
                </c:lvl>
              </c:multiLvlStrCache>
            </c:multiLvlStrRef>
          </c:cat>
          <c:val>
            <c:numRef>
              <c:f>Sheet1!$B$2:$B$5</c:f>
              <c:numCache>
                <c:formatCode>General</c:formatCode>
                <c:ptCount val="4"/>
                <c:pt idx="0">
                  <c:v>3.3</c:v>
                </c:pt>
                <c:pt idx="1">
                  <c:v>3.9</c:v>
                </c:pt>
                <c:pt idx="2">
                  <c:v>9.2</c:v>
                </c:pt>
                <c:pt idx="3">
                  <c:v>20</c:v>
                </c:pt>
              </c:numCache>
            </c:numRef>
          </c:val>
        </c:ser>
        <c:dLbls>
          <c:numFmt formatCode="0.0&quot; pp&quot;" sourceLinked="0"/>
          <c:txPr>
            <a:bodyPr/>
            <a:lstStyle/>
            <a:p>
              <a:pPr>
                <a:defRPr b="1" i="0" strike="noStrike" sz="1200" u="none">
                  <a:solidFill>
                    <a:srgbClr val="000000"/>
                  </a:solidFill>
                  <a:latin typeface="Calibri"/>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4202B"/>
                </a:solidFill>
                <a:latin typeface="Calibri"/>
              </a:defRPr>
            </a:pPr>
            <a:endParaRPr lang="en-US"/>
          </a:p>
        </c:txPr>
        <c:crossAx val="2094734552"/>
        <c:crosses val="autoZero"/>
        <c:auto val="1"/>
        <c:lblAlgn val="ctr"/>
        <c:noMultiLvlLbl val="1"/>
      </c:catAx>
      <c:valAx>
        <c:axId val="2094734552"/>
        <c:scaling>
          <c:orientation val="minMax"/>
          <c:max val="24"/>
          <c:min val="0"/>
        </c:scaling>
        <c:delete val="0"/>
        <c:axPos val="b"/>
        <c:majorGridlines>
          <c:spPr>
            <a:ln w="9525" cap="flat">
              <a:solidFill>
                <a:srgbClr val="C9D2D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7A8A94"/>
                </a:solidFill>
                <a:latin typeface="Calibri"/>
              </a:defRPr>
            </a:pPr>
            <a:endParaRPr lang="en-US"/>
          </a:p>
        </c:txPr>
        <c:crossAx val="2094734554"/>
        <c:crosses val="autoZero"/>
        <c:crossBetween val="between"/>
      </c:valAx>
      <c:spPr>
        <a:solidFill>
          <a:srgbClr val="F2F4F3"/>
        </a:solidFill>
        <a:ln w="12700" cap="flat">
          <a:solidFill>
            <a:srgbClr val="F2F4F3"/>
          </a:solidFill>
        </a:ln>
        <a:effectLst/>
      </c:spPr>
    </c:plotArea>
    <c:plotVisOnly val="1"/>
    <c:dispBlanksAs val="span"/>
  </c:chart>
  <c:spPr>
    <a:solidFill>
      <a:srgbClr val="F2F4F3"/>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claim_status</c:v>
                </c:pt>
              </c:strCache>
            </c:strRef>
          </c:tx>
          <c:spPr>
            <a:solidFill>
              <a:srgbClr val="D6402C"/>
            </a:solidFill>
            <a:ln w="38100" cap="flat">
              <a:solidFill>
                <a:srgbClr val="D6402C"/>
              </a:solidFill>
              <a:prstDash val="solid"/>
              <a:round/>
            </a:ln>
            <a:effectLst/>
          </c:spPr>
          <c:invertIfNegative val="0"/>
          <c:dLbls>
            <c:numFmt formatCode="0&quot; ms&quot;" sourceLinked="0"/>
            <c:txPr>
              <a:bodyPr/>
              <a:lstStyle/>
              <a:p>
                <a:pPr>
                  <a:defRPr b="1" i="0" strike="noStrike" sz="1200" u="none">
                    <a:solidFill>
                      <a:srgbClr val="D6402C"/>
                    </a:solidFill>
                    <a:latin typeface="Calibri"/>
                  </a:defRPr>
                </a:pPr>
              </a:p>
            </c:txPr>
            <c:dLblPos val="t"/>
            <c:showLegendKey val="0"/>
            <c:showVal val="1"/>
            <c:showCatName val="0"/>
            <c:showSerName val="0"/>
            <c:showPercent val="0"/>
            <c:showBubbleSize val="0"/>
            <c:showLeaderLines val="0"/>
          </c:dLbls>
          <c:marker>
            <c:symbol val="circle"/>
            <c:size val="8"/>
            <c:spPr>
              <a:solidFill>
                <a:srgbClr val="D6402C"/>
              </a:solidFill>
              <a:ln w="9525" cap="flat">
                <a:solidFill>
                  <a:srgbClr val="D6402C"/>
                </a:solidFill>
                <a:prstDash val="solid"/>
                <a:round/>
              </a:ln>
              <a:effectLst/>
            </c:spPr>
          </c:marker>
          <c:cat>
            <c:multiLvlStrRef>
              <c:f>Sheet1!$A$2:$A$4</c:f>
              <c:multiLvlStrCache>
                <c:ptCount val="3"/>
                <c:lvl>
                  <c:pt idx="0">
                    <c:v>Week 1</c:v>
                  </c:pt>
                  <c:pt idx="1">
                    <c:v>Week 2</c:v>
                  </c:pt>
                  <c:pt idx="2">
                    <c:v>Week 3</c:v>
                  </c:pt>
                </c:lvl>
              </c:multiLvlStrCache>
            </c:multiLvlStrRef>
          </c:cat>
          <c:val>
            <c:numRef>
              <c:f>Sheet1!$B$2:$B$4</c:f>
              <c:numCache>
                <c:formatCode>General</c:formatCode>
                <c:ptCount val="3"/>
                <c:pt idx="0">
                  <c:v>445</c:v>
                </c:pt>
                <c:pt idx="1">
                  <c:v>634</c:v>
                </c:pt>
                <c:pt idx="2">
                  <c:v>950</c:v>
                </c:pt>
              </c:numCache>
            </c:numRef>
          </c:val>
          <c:smooth val="0"/>
        </c:ser>
        <c:dLbls>
          <c:numFmt formatCode="0&quot; ms&quot;" sourceLinked="0"/>
          <c:txPr>
            <a:bodyPr/>
            <a:lstStyle/>
            <a:p>
              <a:pPr>
                <a:defRPr b="1" i="0" strike="noStrike" sz="1200" u="none">
                  <a:solidFill>
                    <a:srgbClr val="D6402C"/>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renewal_premium</c:v>
                </c:pt>
              </c:strCache>
            </c:strRef>
          </c:tx>
          <c:spPr>
            <a:solidFill>
              <a:srgbClr val="2F6F6B"/>
            </a:solidFill>
            <a:ln w="38100" cap="flat">
              <a:solidFill>
                <a:srgbClr val="2F6F6B"/>
              </a:solidFill>
              <a:prstDash val="solid"/>
              <a:round/>
            </a:ln>
            <a:effectLst/>
          </c:spPr>
          <c:invertIfNegative val="0"/>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2F6F6B"/>
              </a:solidFill>
              <a:ln w="9525" cap="flat">
                <a:solidFill>
                  <a:srgbClr val="2F6F6B"/>
                </a:solidFill>
                <a:prstDash val="solid"/>
                <a:round/>
              </a:ln>
              <a:effectLst/>
            </c:spPr>
          </c:marker>
          <c:cat>
            <c:multiLvlStrRef>
              <c:f>Sheet1!$A$2:$A$4</c:f>
              <c:multiLvlStrCache>
                <c:ptCount val="3"/>
                <c:lvl>
                  <c:pt idx="0">
                    <c:v>Week 1</c:v>
                  </c:pt>
                  <c:pt idx="1">
                    <c:v>Week 2</c:v>
                  </c:pt>
                  <c:pt idx="2">
                    <c:v>Week 3</c:v>
                  </c:pt>
                </c:lvl>
              </c:multiLvlStrCache>
            </c:multiLvlStrRef>
          </c:cat>
          <c:val>
            <c:numRef>
              <c:f>Sheet1!$C$2:$C$4</c:f>
              <c:numCache>
                <c:formatCode>General</c:formatCode>
                <c:ptCount val="3"/>
                <c:pt idx="0">
                  <c:v>452</c:v>
                </c:pt>
                <c:pt idx="1">
                  <c:v>448</c:v>
                </c:pt>
                <c:pt idx="2">
                  <c:v>461</c:v>
                </c:pt>
              </c:numCache>
            </c:numRef>
          </c:val>
          <c:smooth val="0"/>
        </c:ser>
        <c:ser>
          <c:idx val="2"/>
          <c:order val="2"/>
          <c:tx>
            <c:strRef>
              <c:f>Sheet1!$D$1</c:f>
              <c:strCache>
                <c:ptCount val="1"/>
                <c:pt idx="0">
                  <c:v>policy_details</c:v>
                </c:pt>
              </c:strCache>
            </c:strRef>
          </c:tx>
          <c:spPr>
            <a:solidFill>
              <a:srgbClr val="2F6F6B"/>
            </a:solidFill>
            <a:ln w="38100" cap="flat">
              <a:solidFill>
                <a:srgbClr val="2F6F6B"/>
              </a:solidFill>
              <a:prstDash val="solid"/>
              <a:round/>
            </a:ln>
            <a:effectLst/>
          </c:spPr>
          <c:invertIfNegative val="0"/>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2F6F6B"/>
              </a:solidFill>
              <a:ln w="9525" cap="flat">
                <a:solidFill>
                  <a:srgbClr val="2F6F6B"/>
                </a:solidFill>
                <a:prstDash val="solid"/>
                <a:round/>
              </a:ln>
              <a:effectLst/>
            </c:spPr>
          </c:marker>
          <c:cat>
            <c:multiLvlStrRef>
              <c:f>Sheet1!$A$2:$A$4</c:f>
              <c:multiLvlStrCache>
                <c:ptCount val="3"/>
                <c:lvl>
                  <c:pt idx="0">
                    <c:v>Week 1</c:v>
                  </c:pt>
                  <c:pt idx="1">
                    <c:v>Week 2</c:v>
                  </c:pt>
                  <c:pt idx="2">
                    <c:v>Week 3</c:v>
                  </c:pt>
                </c:lvl>
              </c:multiLvlStrCache>
            </c:multiLvlStrRef>
          </c:cat>
          <c:val>
            <c:numRef>
              <c:f>Sheet1!$D$2:$D$4</c:f>
              <c:numCache>
                <c:formatCode>General</c:formatCode>
                <c:ptCount val="3"/>
                <c:pt idx="0">
                  <c:v>441</c:v>
                </c:pt>
                <c:pt idx="1">
                  <c:v>447</c:v>
                </c:pt>
                <c:pt idx="2">
                  <c:v>455</c:v>
                </c:pt>
              </c:numCache>
            </c:numRef>
          </c:val>
          <c:smooth val="0"/>
        </c:ser>
        <c:ser>
          <c:idx val="3"/>
          <c:order val="3"/>
          <c:tx>
            <c:strRef>
              <c:f>Sheet1!$E$1</c:f>
              <c:strCache>
                <c:ptCount val="1"/>
                <c:pt idx="0">
                  <c:v>network_hospital</c:v>
                </c:pt>
              </c:strCache>
            </c:strRef>
          </c:tx>
          <c:spPr>
            <a:solidFill>
              <a:srgbClr val="2F6F6B"/>
            </a:solidFill>
            <a:ln w="38100" cap="flat">
              <a:solidFill>
                <a:srgbClr val="2F6F6B"/>
              </a:solidFill>
              <a:prstDash val="solid"/>
              <a:round/>
            </a:ln>
            <a:effectLst/>
          </c:spPr>
          <c:invertIfNegative val="0"/>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2F6F6B"/>
              </a:solidFill>
              <a:ln w="9525" cap="flat">
                <a:solidFill>
                  <a:srgbClr val="2F6F6B"/>
                </a:solidFill>
                <a:prstDash val="solid"/>
                <a:round/>
              </a:ln>
              <a:effectLst/>
            </c:spPr>
          </c:marker>
          <c:cat>
            <c:multiLvlStrRef>
              <c:f>Sheet1!$A$2:$A$4</c:f>
              <c:multiLvlStrCache>
                <c:ptCount val="3"/>
                <c:lvl>
                  <c:pt idx="0">
                    <c:v>Week 1</c:v>
                  </c:pt>
                  <c:pt idx="1">
                    <c:v>Week 2</c:v>
                  </c:pt>
                  <c:pt idx="2">
                    <c:v>Week 3</c:v>
                  </c:pt>
                </c:lvl>
              </c:multiLvlStrCache>
            </c:multiLvlStrRef>
          </c:cat>
          <c:val>
            <c:numRef>
              <c:f>Sheet1!$E$2:$E$4</c:f>
              <c:numCache>
                <c:formatCode>General</c:formatCode>
                <c:ptCount val="3"/>
                <c:pt idx="0">
                  <c:v>458</c:v>
                </c:pt>
                <c:pt idx="1">
                  <c:v>465</c:v>
                </c:pt>
                <c:pt idx="2">
                  <c:v>449</c:v>
                </c:pt>
              </c:numCache>
            </c:numRef>
          </c:val>
          <c:smooth val="0"/>
        </c:ser>
        <c:dLbls>
          <c:numFmt formatCode="#,##0" sourceLinked="0"/>
          <c:txPr>
            <a:bodyPr/>
            <a:lstStyle/>
            <a:p>
              <a:pPr>
                <a:defRPr b="1" i="0" strike="noStrike" sz="1200" u="none">
                  <a:solidFill>
                    <a:srgbClr val="00000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02B"/>
                </a:solidFill>
                <a:latin typeface="Calibri"/>
              </a:defRPr>
            </a:pPr>
            <a:endParaRPr lang="en-US"/>
          </a:p>
        </c:txPr>
        <c:crossAx val="2094734552"/>
        <c:crosses val="autoZero"/>
        <c:auto val="1"/>
        <c:lblAlgn val="ctr"/>
        <c:noMultiLvlLbl val="1"/>
      </c:catAx>
      <c:valAx>
        <c:axId val="2094734552"/>
        <c:scaling>
          <c:orientation val="minMax"/>
          <c:max val="1000"/>
          <c:min val="380"/>
        </c:scaling>
        <c:delete val="0"/>
        <c:axPos val="l"/>
        <c:majorGridlines>
          <c:spPr>
            <a:ln w="9525" cap="flat">
              <a:solidFill>
                <a:srgbClr val="C9D2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A94"/>
                </a:solidFill>
                <a:latin typeface="Calibri"/>
              </a:defRPr>
            </a:pPr>
            <a:endParaRPr lang="en-US"/>
          </a:p>
        </c:txPr>
        <c:crossAx val="2094734554"/>
        <c:crosses val="autoZero"/>
        <c:crossBetween val="between"/>
      </c:valAx>
      <c:spPr>
        <a:solidFill>
          <a:srgbClr val="F2F4F3"/>
        </a:solidFill>
        <a:ln w="12700" cap="flat">
          <a:solidFill>
            <a:srgbClr val="F2F4F3"/>
          </a:solidFill>
        </a:ln>
        <a:effectLst/>
      </c:spPr>
    </c:plotArea>
    <c:legend>
      <c:legendPos val="r"/>
      <c:overlay val="0"/>
      <c:txPr>
        <a:bodyPr/>
        <a:lstStyle/>
        <a:p>
          <a:pPr>
            <a:defRPr sz="1200">
              <a:solidFill>
                <a:srgbClr val="14202B"/>
              </a:solidFill>
              <a:latin typeface="Calibri"/>
              <a:cs typeface="Calibri"/>
            </a:defRPr>
          </a:pPr>
          <a:endParaRPr lang="en-US"/>
        </a:p>
      </c:txPr>
    </c:legend>
    <c:plotVisOnly val="1"/>
    <c:dispBlanksAs val="span"/>
  </c:chart>
  <c:spPr>
    <a:solidFill>
      <a:srgbClr val="F2F4F3"/>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Human agent cost, ₹ per week</c:v>
                </c:pt>
              </c:strCache>
            </c:strRef>
          </c:tx>
          <c:spPr>
            <a:solidFill>
              <a:srgbClr val="D6402C"/>
            </a:solidFill>
            <a:effectLst/>
          </c:spPr>
          <c:invertIfNegative val="0"/>
          <c:dLbls>
            <c:numFmt formatCode="&quot;₹&quot;#,##0" sourceLinked="0"/>
            <c:txPr>
              <a:bodyPr/>
              <a:lstStyle/>
              <a:p>
                <a:pPr>
                  <a:defRPr b="1" i="0" strike="noStrike" sz="1200" u="none">
                    <a:solidFill>
                      <a:srgbClr val="000000"/>
                    </a:solidFill>
                    <a:latin typeface="Calibri"/>
                  </a:defRPr>
                </a:pPr>
              </a:p>
            </c:txPr>
            <c:dLblPos val="outEnd"/>
            <c:showLegendKey val="0"/>
            <c:showVal val="1"/>
            <c:showCatName val="0"/>
            <c:showSerName val="0"/>
            <c:showPercent val="0"/>
            <c:showBubbleSize val="0"/>
            <c:showLeaderLines val="0"/>
          </c:dLbls>
          <c:cat>
            <c:multiLvlStrRef>
              <c:f>Sheet1!$A$2:$A$4</c:f>
              <c:multiLvlStrCache>
                <c:ptCount val="3"/>
                <c:lvl>
                  <c:pt idx="0">
                    <c:v>Week 1</c:v>
                  </c:pt>
                  <c:pt idx="1">
                    <c:v>Week 2</c:v>
                  </c:pt>
                  <c:pt idx="2">
                    <c:v>Week 3</c:v>
                  </c:pt>
                </c:lvl>
              </c:multiLvlStrCache>
            </c:multiLvlStrRef>
          </c:cat>
          <c:val>
            <c:numRef>
              <c:f>Sheet1!$B$2:$B$4</c:f>
              <c:numCache>
                <c:formatCode>General</c:formatCode>
                <c:ptCount val="3"/>
                <c:pt idx="0">
                  <c:v>13986</c:v>
                </c:pt>
                <c:pt idx="1">
                  <c:v>18396</c:v>
                </c:pt>
                <c:pt idx="2">
                  <c:v>22764</c:v>
                </c:pt>
              </c:numCache>
            </c:numRef>
          </c:val>
        </c:ser>
        <c:dLbls>
          <c:numFmt formatCode="&quot;₹&quot;#,##0" sourceLinked="0"/>
          <c:txPr>
            <a:bodyPr/>
            <a:lstStyle/>
            <a:p>
              <a:pPr>
                <a:defRPr b="1" i="0" strike="noStrike" sz="1200" u="none">
                  <a:solidFill>
                    <a:srgbClr val="000000"/>
                  </a:solidFill>
                  <a:latin typeface="Calibri"/>
                </a:defRPr>
              </a:pPr>
            </a:p>
          </c:txPr>
          <c:dLblPos val="outEnd"/>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02B"/>
                </a:solidFill>
                <a:latin typeface="Calibri"/>
              </a:defRPr>
            </a:pPr>
            <a:endParaRPr lang="en-US"/>
          </a:p>
        </c:txPr>
        <c:crossAx val="2094734552"/>
        <c:crosses val="autoZero"/>
        <c:auto val="1"/>
        <c:lblAlgn val="ctr"/>
        <c:noMultiLvlLbl val="1"/>
      </c:catAx>
      <c:valAx>
        <c:axId val="2094734552"/>
        <c:scaling>
          <c:orientation val="minMax"/>
          <c:max val="26000"/>
          <c:min val="0"/>
        </c:scaling>
        <c:delete val="0"/>
        <c:axPos val="l"/>
        <c:majorGridlines>
          <c:spPr>
            <a:ln w="9525" cap="flat">
              <a:solidFill>
                <a:srgbClr val="C9D2D4"/>
              </a:solidFill>
              <a:prstDash val="solid"/>
              <a:round/>
            </a:ln>
          </c:spPr>
        </c:majorGridlines>
        <c:numFmt formatCode="&quot;₹&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A94"/>
                </a:solidFill>
                <a:latin typeface="Calibri"/>
              </a:defRPr>
            </a:pPr>
            <a:endParaRPr lang="en-US"/>
          </a:p>
        </c:txPr>
        <c:crossAx val="2094734554"/>
        <c:crosses val="autoZero"/>
        <c:crossBetween val="between"/>
      </c:valAx>
      <c:spPr>
        <a:solidFill>
          <a:srgbClr val="F2F4F3"/>
        </a:solidFill>
        <a:ln w="12700" cap="flat">
          <a:solidFill>
            <a:srgbClr val="F2F4F3"/>
          </a:solidFill>
        </a:ln>
        <a:effectLst/>
      </c:spPr>
    </c:plotArea>
    <c:plotVisOnly val="1"/>
    <c:dispBlanksAs val="span"/>
  </c:chart>
  <c:spPr>
    <a:solidFill>
      <a:srgbClr val="F2F4F3"/>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Contained calls</c:v>
                </c:pt>
              </c:strCache>
            </c:strRef>
          </c:tx>
          <c:spPr>
            <a:solidFill>
              <a:srgbClr val="2F6F6B"/>
            </a:solidFill>
            <a:ln w="38100" cap="flat">
              <a:solidFill>
                <a:srgbClr val="2F6F6B"/>
              </a:solidFill>
              <a:prstDash val="solid"/>
              <a:round/>
            </a:ln>
            <a:effectLst/>
          </c:spPr>
          <c:invertIfNegative val="0"/>
          <c:dLbls>
            <c:numFmt formatCode="0.0" sourceLinked="0"/>
            <c:txPr>
              <a:bodyPr/>
              <a:lstStyle/>
              <a:p>
                <a:pPr>
                  <a:defRPr b="1" i="0" strike="noStrike" sz="1200" u="none">
                    <a:solidFill>
                      <a:srgbClr val="2F6F6B"/>
                    </a:solidFill>
                    <a:latin typeface="Calibri"/>
                  </a:defRPr>
                </a:pPr>
              </a:p>
            </c:txPr>
            <c:dLblPos val="t"/>
            <c:showLegendKey val="0"/>
            <c:showVal val="1"/>
            <c:showCatName val="0"/>
            <c:showSerName val="0"/>
            <c:showPercent val="0"/>
            <c:showBubbleSize val="0"/>
            <c:showLeaderLines val="0"/>
          </c:dLbls>
          <c:marker>
            <c:symbol val="circle"/>
            <c:size val="9"/>
            <c:spPr>
              <a:solidFill>
                <a:srgbClr val="2F6F6B"/>
              </a:solidFill>
              <a:ln w="9525" cap="flat">
                <a:solidFill>
                  <a:srgbClr val="2F6F6B"/>
                </a:solidFill>
                <a:prstDash val="solid"/>
                <a:round/>
              </a:ln>
              <a:effectLst/>
            </c:spPr>
          </c:marker>
          <c:cat>
            <c:multiLvlStrRef>
              <c:f>Sheet1!$A$2:$A$4</c:f>
              <c:multiLvlStrCache>
                <c:ptCount val="3"/>
                <c:lvl>
                  <c:pt idx="0">
                    <c:v>Week 1</c:v>
                  </c:pt>
                  <c:pt idx="1">
                    <c:v>Week 2</c:v>
                  </c:pt>
                  <c:pt idx="2">
                    <c:v>Week 3</c:v>
                  </c:pt>
                </c:lvl>
              </c:multiLvlStrCache>
            </c:multiLvlStrRef>
          </c:cat>
          <c:val>
            <c:numRef>
              <c:f>Sheet1!$B$2:$B$4</c:f>
              <c:numCache>
                <c:formatCode>General</c:formatCode>
                <c:ptCount val="3"/>
                <c:pt idx="0">
                  <c:v>4.5</c:v>
                </c:pt>
                <c:pt idx="1">
                  <c:v>4.5</c:v>
                </c:pt>
                <c:pt idx="2">
                  <c:v>4.4</c:v>
                </c:pt>
              </c:numCache>
            </c:numRef>
          </c:val>
          <c:smooth val="0"/>
        </c:ser>
        <c:dLbls>
          <c:numFmt formatCode="0.0" sourceLinked="0"/>
          <c:txPr>
            <a:bodyPr/>
            <a:lstStyle/>
            <a:p>
              <a:pPr>
                <a:defRPr b="1" i="0" strike="noStrike" sz="1200" u="none">
                  <a:solidFill>
                    <a:srgbClr val="2F6F6B"/>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Transferred calls</c:v>
                </c:pt>
              </c:strCache>
            </c:strRef>
          </c:tx>
          <c:spPr>
            <a:solidFill>
              <a:srgbClr val="D6402C"/>
            </a:solidFill>
            <a:ln w="38100" cap="flat">
              <a:solidFill>
                <a:srgbClr val="D6402C"/>
              </a:solidFill>
              <a:prstDash val="solid"/>
              <a:round/>
            </a:ln>
            <a:effectLst/>
          </c:spPr>
          <c:invertIfNegative val="0"/>
          <c:dLbls>
            <c:numFmt formatCode="0.0" sourceLinked="0"/>
            <c:txPr>
              <a:bodyPr/>
              <a:lstStyle/>
              <a:p>
                <a:pPr>
                  <a:defRPr b="1" i="0" strike="noStrike" sz="1200" u="none">
                    <a:solidFill>
                      <a:srgbClr val="D6402C"/>
                    </a:solidFill>
                    <a:latin typeface="Calibri"/>
                  </a:defRPr>
                </a:pPr>
              </a:p>
            </c:txPr>
            <c:dLblPos val="b"/>
            <c:showLegendKey val="0"/>
            <c:showVal val="1"/>
            <c:showCatName val="0"/>
            <c:showSerName val="0"/>
            <c:showPercent val="0"/>
            <c:showBubbleSize val="0"/>
            <c:showLeaderLines val="0"/>
          </c:dLbls>
          <c:marker>
            <c:symbol val="circle"/>
            <c:size val="9"/>
            <c:spPr>
              <a:solidFill>
                <a:srgbClr val="D6402C"/>
              </a:solidFill>
              <a:ln w="9525" cap="flat">
                <a:solidFill>
                  <a:srgbClr val="D6402C"/>
                </a:solidFill>
                <a:prstDash val="solid"/>
                <a:round/>
              </a:ln>
              <a:effectLst/>
            </c:spPr>
          </c:marker>
          <c:cat>
            <c:multiLvlStrRef>
              <c:f>Sheet1!$A$2:$A$4</c:f>
              <c:multiLvlStrCache>
                <c:ptCount val="3"/>
                <c:lvl>
                  <c:pt idx="0">
                    <c:v>Week 1</c:v>
                  </c:pt>
                  <c:pt idx="1">
                    <c:v>Week 2</c:v>
                  </c:pt>
                  <c:pt idx="2">
                    <c:v>Week 3</c:v>
                  </c:pt>
                </c:lvl>
              </c:multiLvlStrCache>
            </c:multiLvlStrRef>
          </c:cat>
          <c:val>
            <c:numRef>
              <c:f>Sheet1!$C$2:$C$4</c:f>
              <c:numCache>
                <c:formatCode>General</c:formatCode>
                <c:ptCount val="3"/>
                <c:pt idx="0">
                  <c:v>4.3</c:v>
                </c:pt>
                <c:pt idx="1">
                  <c:v>4.1</c:v>
                </c:pt>
                <c:pt idx="2">
                  <c:v>3.6</c:v>
                </c:pt>
              </c:numCache>
            </c:numRef>
          </c:val>
          <c:smooth val="0"/>
        </c:ser>
        <c:dLbls>
          <c:numFmt formatCode="0.0" sourceLinked="0"/>
          <c:txPr>
            <a:bodyPr/>
            <a:lstStyle/>
            <a:p>
              <a:pPr>
                <a:defRPr b="1" i="0" strike="noStrike" sz="1200" u="none">
                  <a:solidFill>
                    <a:srgbClr val="D6402C"/>
                  </a:solidFill>
                  <a:latin typeface="Calibri"/>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02B"/>
                </a:solidFill>
                <a:latin typeface="Calibri"/>
              </a:defRPr>
            </a:pPr>
            <a:endParaRPr lang="en-US"/>
          </a:p>
        </c:txPr>
        <c:crossAx val="2094734552"/>
        <c:crosses val="autoZero"/>
        <c:auto val="1"/>
        <c:lblAlgn val="ctr"/>
        <c:noMultiLvlLbl val="1"/>
      </c:catAx>
      <c:valAx>
        <c:axId val="2094734552"/>
        <c:scaling>
          <c:orientation val="minMax"/>
          <c:max val="5"/>
          <c:min val="3"/>
        </c:scaling>
        <c:delete val="0"/>
        <c:axPos val="l"/>
        <c:majorGridlines>
          <c:spPr>
            <a:ln w="9525" cap="flat">
              <a:solidFill>
                <a:srgbClr val="C9D2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A94"/>
                </a:solidFill>
                <a:latin typeface="Calibri"/>
              </a:defRPr>
            </a:pPr>
            <a:endParaRPr lang="en-US"/>
          </a:p>
        </c:txPr>
        <c:crossAx val="2094734554"/>
        <c:crosses val="autoZero"/>
        <c:crossBetween val="between"/>
      </c:valAx>
      <c:spPr>
        <a:solidFill>
          <a:srgbClr val="F2F4F3"/>
        </a:solidFill>
        <a:ln w="12700" cap="flat">
          <a:solidFill>
            <a:srgbClr val="F2F4F3"/>
          </a:solidFill>
        </a:ln>
        <a:effectLst/>
      </c:spPr>
    </c:plotArea>
    <c:legend>
      <c:legendPos val="r"/>
      <c:overlay val="0"/>
      <c:txPr>
        <a:bodyPr/>
        <a:lstStyle/>
        <a:p>
          <a:pPr>
            <a:defRPr sz="1300">
              <a:solidFill>
                <a:srgbClr val="14202B"/>
              </a:solidFill>
              <a:latin typeface="Calibri"/>
              <a:cs typeface="Calibri"/>
            </a:defRPr>
          </a:pPr>
          <a:endParaRPr lang="en-US"/>
        </a:p>
      </c:txPr>
    </c:legend>
    <c:plotVisOnly val="1"/>
    <c:dispBlanksAs val="span"/>
  </c:chart>
  <c:spPr>
    <a:solidFill>
      <a:srgbClr val="F2F4F3"/>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then state the one-line finding before any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answer first. The rest of the deck is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 of calls. The two lines cross between week 2 and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v14 bar in Week 3 because v14 was no longer running. Say that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reply time in milliseconds. The three flat lines are the other intents.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0" y="1874520"/>
            <a:ext cx="12188952" cy="365760"/>
          </a:xfrm>
          <a:prstGeom prst="rect">
            <a:avLst/>
          </a:prstGeom>
          <a:noFill/>
          <a:ln/>
        </p:spPr>
        <p:txBody>
          <a:bodyPr wrap="square" lIns="0" tIns="0" rIns="0" bIns="0" rtlCol="0" anchor="ctr"/>
          <a:lstStyle/>
          <a:p>
            <a:pPr algn="ctr" indent="0" marL="0">
              <a:buNone/>
            </a:pPr>
            <a:r>
              <a:rPr lang="en-US" sz="1400" dirty="0">
                <a:solidFill>
                  <a:srgbClr val="9FB0B8"/>
                </a:solidFill>
                <a:latin typeface="Calibri" pitchFamily="34" charset="0"/>
                <a:ea typeface="Calibri" pitchFamily="34" charset="-122"/>
                <a:cs typeface="Calibri" pitchFamily="34" charset="-120"/>
              </a:rPr>
              <a:t>Blue Machines AI  ·  Forward Deployed Engineer (FDE)</a:t>
            </a:r>
            <a:endParaRPr lang="en-US" sz="1400" dirty="0"/>
          </a:p>
        </p:txBody>
      </p:sp>
      <p:sp>
        <p:nvSpPr>
          <p:cNvPr id="3" name="Text 1"/>
          <p:cNvSpPr txBox="1"/>
          <p:nvPr/>
        </p:nvSpPr>
        <p:spPr>
          <a:xfrm>
            <a:off x="914400" y="2331720"/>
            <a:ext cx="103601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Kestrel Health Insurance Analysis</a:t>
            </a:r>
            <a:endParaRPr lang="en-US" sz="4400" dirty="0"/>
          </a:p>
        </p:txBody>
      </p:sp>
      <p:sp>
        <p:nvSpPr>
          <p:cNvPr id="4" name="Text 2"/>
          <p:cNvSpPr txBox="1"/>
          <p:nvPr/>
        </p:nvSpPr>
        <p:spPr>
          <a:xfrm>
            <a:off x="0" y="3611880"/>
            <a:ext cx="12188952"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Divyaansh Vats</a:t>
            </a:r>
            <a:endParaRPr lang="en-US" sz="2000" dirty="0"/>
          </a:p>
        </p:txBody>
      </p:sp>
      <p:sp>
        <p:nvSpPr>
          <p:cNvPr id="5" name="Text 3"/>
          <p:cNvSpPr txBox="1"/>
          <p:nvPr/>
        </p:nvSpPr>
        <p:spPr>
          <a:xfrm>
            <a:off x="1463040" y="4114800"/>
            <a:ext cx="9262872" cy="457200"/>
          </a:xfrm>
          <a:prstGeom prst="rect">
            <a:avLst/>
          </a:prstGeom>
          <a:noFill/>
          <a:ln/>
        </p:spPr>
        <p:txBody>
          <a:bodyPr wrap="square" lIns="0" tIns="0" rIns="0" bIns="0" rtlCol="0" anchor="ctr"/>
          <a:lstStyle/>
          <a:p>
            <a:pPr algn="ctr" indent="0" marL="0">
              <a:buNone/>
            </a:pPr>
            <a:r>
              <a:rPr lang="en-US" sz="1400" dirty="0">
                <a:solidFill>
                  <a:srgbClr val="9FB0B8"/>
                </a:solidFill>
                <a:latin typeface="Calibri" pitchFamily="34" charset="0"/>
                <a:ea typeface="Calibri" pitchFamily="34" charset="-122"/>
                <a:cs typeface="Calibri" pitchFamily="34" charset="-120"/>
              </a:rPr>
              <a:t>Three weeks of call data. One cause. A plan we can start today.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1105509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The short version, before the detail</a:t>
            </a:r>
            <a:endParaRPr lang="en-US" sz="3200" dirty="0"/>
          </a:p>
        </p:txBody>
      </p:sp>
      <p:sp>
        <p:nvSpPr>
          <p:cNvPr id="3" name="Shape 1"/>
          <p:cNvSpPr/>
          <p:nvPr/>
        </p:nvSpPr>
        <p:spPr>
          <a:xfrm>
            <a:off x="566928" y="1645920"/>
            <a:ext cx="3401568" cy="2834640"/>
          </a:xfrm>
          <a:prstGeom prst="rect">
            <a:avLst/>
          </a:prstGeom>
          <a:solidFill>
            <a:srgbClr val="FFFFFF"/>
          </a:solidFill>
          <a:ln w="9525">
            <a:solidFill>
              <a:srgbClr val="C9D2D4"/>
            </a:solidFill>
            <a:prstDash val="solid"/>
          </a:ln>
        </p:spPr>
      </p:sp>
      <p:sp>
        <p:nvSpPr>
          <p:cNvPr id="4" name="Text 2"/>
          <p:cNvSpPr txBox="1"/>
          <p:nvPr/>
        </p:nvSpPr>
        <p:spPr>
          <a:xfrm>
            <a:off x="841248" y="1901952"/>
            <a:ext cx="2852928" cy="274320"/>
          </a:xfrm>
          <a:prstGeom prst="rect">
            <a:avLst/>
          </a:prstGeom>
          <a:noFill/>
          <a:ln/>
        </p:spPr>
        <p:txBody>
          <a:bodyPr wrap="square" lIns="0" tIns="0" rIns="0" bIns="0" rtlCol="0" anchor="ctr"/>
          <a:lstStyle/>
          <a:p>
            <a:pPr indent="0" marL="0">
              <a:buNone/>
            </a:pPr>
            <a:r>
              <a:rPr lang="en-US" sz="1150" dirty="0">
                <a:solidFill>
                  <a:srgbClr val="7A8A94"/>
                </a:solidFill>
                <a:latin typeface="Calibri" pitchFamily="34" charset="0"/>
                <a:ea typeface="Calibri" pitchFamily="34" charset="-122"/>
                <a:cs typeface="Calibri" pitchFamily="34" charset="-120"/>
              </a:rPr>
              <a:t>25 August</a:t>
            </a:r>
            <a:endParaRPr lang="en-US" sz="1150" dirty="0"/>
          </a:p>
        </p:txBody>
      </p:sp>
      <p:sp>
        <p:nvSpPr>
          <p:cNvPr id="5" name="Text 3"/>
          <p:cNvSpPr txBox="1"/>
          <p:nvPr/>
        </p:nvSpPr>
        <p:spPr>
          <a:xfrm>
            <a:off x="841248" y="2240280"/>
            <a:ext cx="2852928" cy="685800"/>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Kestrel moves claims to a new TPA</a:t>
            </a:r>
            <a:endParaRPr lang="en-US" sz="1600" dirty="0"/>
          </a:p>
        </p:txBody>
      </p:sp>
      <p:sp>
        <p:nvSpPr>
          <p:cNvPr id="6" name="Text 4"/>
          <p:cNvSpPr txBox="1"/>
          <p:nvPr/>
        </p:nvSpPr>
        <p:spPr>
          <a:xfrm>
            <a:off x="841248" y="3063240"/>
            <a:ext cx="2852928" cy="914400"/>
          </a:xfrm>
          <a:prstGeom prst="rect">
            <a:avLst/>
          </a:prstGeom>
          <a:noFill/>
          <a:ln/>
        </p:spPr>
        <p:txBody>
          <a:bodyPr wrap="square" lIns="0" tIns="0" rIns="0" bIns="0" rtlCol="0" anchor="ctr"/>
          <a:lstStyle/>
          <a:p>
            <a:pPr indent="0" marL="0">
              <a:lnSpc>
                <a:spcPct val="120000"/>
              </a:lnSpc>
              <a:buNone/>
            </a:pPr>
            <a:r>
              <a:rPr lang="en-US" sz="1250" dirty="0">
                <a:solidFill>
                  <a:srgbClr val="7A8A94"/>
                </a:solidFill>
                <a:latin typeface="Calibri" pitchFamily="34" charset="0"/>
                <a:ea typeface="Calibri" pitchFamily="34" charset="-122"/>
                <a:cs typeface="Calibri" pitchFamily="34" charset="-120"/>
              </a:rPr>
              <a:t>The format of claim reference numbers changes for the moved policies.</a:t>
            </a:r>
            <a:endParaRPr lang="en-US" sz="1250" dirty="0"/>
          </a:p>
        </p:txBody>
      </p:sp>
      <p:sp>
        <p:nvSpPr>
          <p:cNvPr id="7" name="Shape 5"/>
          <p:cNvSpPr/>
          <p:nvPr/>
        </p:nvSpPr>
        <p:spPr>
          <a:xfrm>
            <a:off x="4069080" y="2953512"/>
            <a:ext cx="310896" cy="219456"/>
          </a:xfrm>
          <a:prstGeom prst="rightArrow">
            <a:avLst/>
          </a:prstGeom>
          <a:solidFill>
            <a:srgbClr val="C9D2D4"/>
          </a:solidFill>
          <a:ln w="12700">
            <a:solidFill>
              <a:srgbClr val="C9D2D4"/>
            </a:solidFill>
            <a:prstDash val="solid"/>
          </a:ln>
        </p:spPr>
      </p:sp>
      <p:sp>
        <p:nvSpPr>
          <p:cNvPr id="8" name="Shape 6"/>
          <p:cNvSpPr/>
          <p:nvPr/>
        </p:nvSpPr>
        <p:spPr>
          <a:xfrm>
            <a:off x="4471416" y="1645920"/>
            <a:ext cx="3401568" cy="2834640"/>
          </a:xfrm>
          <a:prstGeom prst="rect">
            <a:avLst/>
          </a:prstGeom>
          <a:solidFill>
            <a:srgbClr val="FFFFFF"/>
          </a:solidFill>
          <a:ln w="9525">
            <a:solidFill>
              <a:srgbClr val="C9D2D4"/>
            </a:solidFill>
            <a:prstDash val="solid"/>
          </a:ln>
        </p:spPr>
      </p:sp>
      <p:sp>
        <p:nvSpPr>
          <p:cNvPr id="9" name="Text 7"/>
          <p:cNvSpPr txBox="1"/>
          <p:nvPr/>
        </p:nvSpPr>
        <p:spPr>
          <a:xfrm>
            <a:off x="4745736" y="1901952"/>
            <a:ext cx="2852928" cy="274320"/>
          </a:xfrm>
          <a:prstGeom prst="rect">
            <a:avLst/>
          </a:prstGeom>
          <a:noFill/>
          <a:ln/>
        </p:spPr>
        <p:txBody>
          <a:bodyPr wrap="square" lIns="0" tIns="0" rIns="0" bIns="0" rtlCol="0" anchor="ctr"/>
          <a:lstStyle/>
          <a:p>
            <a:pPr indent="0" marL="0">
              <a:buNone/>
            </a:pPr>
            <a:r>
              <a:rPr lang="en-US" sz="1150" dirty="0">
                <a:solidFill>
                  <a:srgbClr val="7A8A94"/>
                </a:solidFill>
                <a:latin typeface="Calibri" pitchFamily="34" charset="0"/>
                <a:ea typeface="Calibri" pitchFamily="34" charset="-122"/>
                <a:cs typeface="Calibri" pitchFamily="34" charset="-120"/>
              </a:rPr>
              <a:t>Same day</a:t>
            </a:r>
            <a:endParaRPr lang="en-US" sz="1150" dirty="0"/>
          </a:p>
        </p:txBody>
      </p:sp>
      <p:sp>
        <p:nvSpPr>
          <p:cNvPr id="10" name="Text 8"/>
          <p:cNvSpPr txBox="1"/>
          <p:nvPr/>
        </p:nvSpPr>
        <p:spPr>
          <a:xfrm>
            <a:off x="4745736" y="2240280"/>
            <a:ext cx="2852928" cy="685800"/>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Claim matching appears to break</a:t>
            </a:r>
            <a:endParaRPr lang="en-US" sz="1600" dirty="0"/>
          </a:p>
        </p:txBody>
      </p:sp>
      <p:sp>
        <p:nvSpPr>
          <p:cNvPr id="11" name="Text 9"/>
          <p:cNvSpPr txBox="1"/>
          <p:nvPr/>
        </p:nvSpPr>
        <p:spPr>
          <a:xfrm>
            <a:off x="4745736" y="3063240"/>
            <a:ext cx="2852928" cy="914400"/>
          </a:xfrm>
          <a:prstGeom prst="rect">
            <a:avLst/>
          </a:prstGeom>
          <a:noFill/>
          <a:ln/>
        </p:spPr>
        <p:txBody>
          <a:bodyPr wrap="square" lIns="0" tIns="0" rIns="0" bIns="0" rtlCol="0" anchor="ctr"/>
          <a:lstStyle/>
          <a:p>
            <a:pPr indent="0" marL="0">
              <a:lnSpc>
                <a:spcPct val="120000"/>
              </a:lnSpc>
              <a:buNone/>
            </a:pPr>
            <a:r>
              <a:rPr lang="en-US" sz="1250" dirty="0">
                <a:solidFill>
                  <a:srgbClr val="7A8A94"/>
                </a:solidFill>
                <a:latin typeface="Calibri" pitchFamily="34" charset="0"/>
                <a:ea typeface="Calibri" pitchFamily="34" charset="-122"/>
                <a:cs typeface="Calibri" pitchFamily="34" charset="-120"/>
              </a:rPr>
              <a:t>It asks again, tries again, and waits. Replies get slower.</a:t>
            </a:r>
            <a:endParaRPr lang="en-US" sz="1250" dirty="0"/>
          </a:p>
        </p:txBody>
      </p:sp>
      <p:sp>
        <p:nvSpPr>
          <p:cNvPr id="12" name="Shape 10"/>
          <p:cNvSpPr/>
          <p:nvPr/>
        </p:nvSpPr>
        <p:spPr>
          <a:xfrm>
            <a:off x="7973568" y="2953512"/>
            <a:ext cx="310896" cy="219456"/>
          </a:xfrm>
          <a:prstGeom prst="rightArrow">
            <a:avLst/>
          </a:prstGeom>
          <a:solidFill>
            <a:srgbClr val="C9D2D4"/>
          </a:solidFill>
          <a:ln w="12700">
            <a:solidFill>
              <a:srgbClr val="C9D2D4"/>
            </a:solidFill>
            <a:prstDash val="solid"/>
          </a:ln>
        </p:spPr>
      </p:sp>
      <p:sp>
        <p:nvSpPr>
          <p:cNvPr id="13" name="Shape 11"/>
          <p:cNvSpPr/>
          <p:nvPr/>
        </p:nvSpPr>
        <p:spPr>
          <a:xfrm>
            <a:off x="8375904" y="1645920"/>
            <a:ext cx="3401568" cy="2834640"/>
          </a:xfrm>
          <a:prstGeom prst="rect">
            <a:avLst/>
          </a:prstGeom>
          <a:solidFill>
            <a:srgbClr val="FFFFFF"/>
          </a:solidFill>
          <a:ln w="19050">
            <a:solidFill>
              <a:srgbClr val="D6402C"/>
            </a:solidFill>
            <a:prstDash val="solid"/>
          </a:ln>
        </p:spPr>
      </p:sp>
      <p:sp>
        <p:nvSpPr>
          <p:cNvPr id="14" name="Text 12"/>
          <p:cNvSpPr txBox="1"/>
          <p:nvPr/>
        </p:nvSpPr>
        <p:spPr>
          <a:xfrm>
            <a:off x="8650224" y="1901952"/>
            <a:ext cx="2852928" cy="274320"/>
          </a:xfrm>
          <a:prstGeom prst="rect">
            <a:avLst/>
          </a:prstGeom>
          <a:noFill/>
          <a:ln/>
        </p:spPr>
        <p:txBody>
          <a:bodyPr wrap="square" lIns="0" tIns="0" rIns="0" bIns="0" rtlCol="0" anchor="ctr"/>
          <a:lstStyle/>
          <a:p>
            <a:pPr indent="0" marL="0">
              <a:buNone/>
            </a:pPr>
            <a:r>
              <a:rPr lang="en-US" sz="1150" dirty="0">
                <a:solidFill>
                  <a:srgbClr val="7A8A94"/>
                </a:solidFill>
                <a:latin typeface="Calibri" pitchFamily="34" charset="0"/>
                <a:ea typeface="Calibri" pitchFamily="34" charset="-122"/>
                <a:cs typeface="Calibri" pitchFamily="34" charset="-120"/>
              </a:rPr>
              <a:t>Three weeks</a:t>
            </a:r>
            <a:endParaRPr lang="en-US" sz="1150" dirty="0"/>
          </a:p>
        </p:txBody>
      </p:sp>
      <p:sp>
        <p:nvSpPr>
          <p:cNvPr id="15" name="Text 13"/>
          <p:cNvSpPr txBox="1"/>
          <p:nvPr/>
        </p:nvSpPr>
        <p:spPr>
          <a:xfrm>
            <a:off x="8650224" y="2240280"/>
            <a:ext cx="2852928" cy="685800"/>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Calls fall through to humans</a:t>
            </a:r>
            <a:endParaRPr lang="en-US" sz="1600" dirty="0"/>
          </a:p>
        </p:txBody>
      </p:sp>
      <p:sp>
        <p:nvSpPr>
          <p:cNvPr id="16" name="Text 14"/>
          <p:cNvSpPr txBox="1"/>
          <p:nvPr/>
        </p:nvSpPr>
        <p:spPr>
          <a:xfrm>
            <a:off x="8650224" y="3063240"/>
            <a:ext cx="2852928" cy="914400"/>
          </a:xfrm>
          <a:prstGeom prst="rect">
            <a:avLst/>
          </a:prstGeom>
          <a:noFill/>
          <a:ln/>
        </p:spPr>
        <p:txBody>
          <a:bodyPr wrap="square" lIns="0" tIns="0" rIns="0" bIns="0" rtlCol="0" anchor="ctr"/>
          <a:lstStyle/>
          <a:p>
            <a:pPr indent="0" marL="0">
              <a:lnSpc>
                <a:spcPct val="120000"/>
              </a:lnSpc>
              <a:buNone/>
            </a:pPr>
            <a:r>
              <a:rPr lang="en-US" sz="1250" dirty="0">
                <a:solidFill>
                  <a:srgbClr val="7A8A94"/>
                </a:solidFill>
                <a:latin typeface="Calibri" pitchFamily="34" charset="0"/>
                <a:ea typeface="Calibri" pitchFamily="34" charset="-122"/>
                <a:cs typeface="Calibri" pitchFamily="34" charset="-120"/>
              </a:rPr>
              <a:t>Containment falls 20 points. The support floor gets busy.</a:t>
            </a:r>
            <a:endParaRPr lang="en-US" sz="1250" dirty="0"/>
          </a:p>
        </p:txBody>
      </p:sp>
      <p:sp>
        <p:nvSpPr>
          <p:cNvPr id="17" name="Shape 15"/>
          <p:cNvSpPr/>
          <p:nvPr/>
        </p:nvSpPr>
        <p:spPr>
          <a:xfrm>
            <a:off x="566928" y="4983480"/>
            <a:ext cx="45720" cy="566928"/>
          </a:xfrm>
          <a:prstGeom prst="rect">
            <a:avLst/>
          </a:prstGeom>
          <a:solidFill>
            <a:srgbClr val="D6402C"/>
          </a:solidFill>
          <a:ln/>
        </p:spPr>
      </p:sp>
      <p:sp>
        <p:nvSpPr>
          <p:cNvPr id="18" name="Text 16"/>
          <p:cNvSpPr txBox="1"/>
          <p:nvPr/>
        </p:nvSpPr>
        <p:spPr>
          <a:xfrm>
            <a:off x="768096" y="4946904"/>
            <a:ext cx="10780776" cy="640080"/>
          </a:xfrm>
          <a:prstGeom prst="rect">
            <a:avLst/>
          </a:prstGeom>
          <a:noFill/>
          <a:ln/>
        </p:spPr>
        <p:txBody>
          <a:bodyPr wrap="square" lIns="0" tIns="0" rIns="0" bIns="0" rtlCol="0" anchor="ctr"/>
          <a:lstStyle/>
          <a:p>
            <a:pPr indent="0" marL="0">
              <a:lnSpc>
                <a:spcPct val="115000"/>
              </a:lnSpc>
              <a:buNone/>
            </a:pPr>
            <a:r>
              <a:rPr lang="en-US" sz="1450" dirty="0">
                <a:solidFill>
                  <a:srgbClr val="14202B"/>
                </a:solidFill>
                <a:latin typeface="Calibri" pitchFamily="34" charset="0"/>
                <a:ea typeface="Calibri" pitchFamily="34" charset="-122"/>
                <a:cs typeface="Calibri" pitchFamily="34" charset="-120"/>
              </a:rPr>
              <a:t>The agent did not get worse at understanding callers. It lost the ability to find a claim.</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867765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What is happening</a:t>
            </a:r>
            <a:endParaRPr lang="en-US" sz="3200" dirty="0"/>
          </a:p>
        </p:txBody>
      </p:sp>
      <p:sp>
        <p:nvSpPr>
          <p:cNvPr id="3" name="Text 1"/>
          <p:cNvSpPr txBox="1"/>
          <p:nvPr/>
        </p:nvSpPr>
        <p:spPr>
          <a:xfrm>
            <a:off x="9336024" y="502920"/>
            <a:ext cx="2286000" cy="411480"/>
          </a:xfrm>
          <a:prstGeom prst="rect">
            <a:avLst/>
          </a:prstGeom>
          <a:noFill/>
          <a:ln/>
        </p:spPr>
        <p:txBody>
          <a:bodyPr wrap="square" lIns="0" tIns="0" rIns="0" bIns="0" rtlCol="0" anchor="ctr"/>
          <a:lstStyle/>
          <a:p>
            <a:pPr algn="r" indent="0" marL="0">
              <a:buNone/>
            </a:pPr>
            <a:r>
              <a:rPr lang="en-US" sz="1200" dirty="0">
                <a:solidFill>
                  <a:srgbClr val="7A8A94"/>
                </a:solidFill>
                <a:latin typeface="Calibri" pitchFamily="34" charset="0"/>
                <a:ea typeface="Calibri" pitchFamily="34" charset="-122"/>
                <a:cs typeface="Calibri" pitchFamily="34" charset="-120"/>
              </a:rPr>
              <a:t>1 · What I found</a:t>
            </a:r>
            <a:endParaRPr lang="en-US" sz="1200" dirty="0"/>
          </a:p>
        </p:txBody>
      </p:sp>
      <p:sp>
        <p:nvSpPr>
          <p:cNvPr id="4" name="Text 2"/>
          <p:cNvSpPr txBox="1"/>
          <p:nvPr/>
        </p:nvSpPr>
        <p:spPr>
          <a:xfrm>
            <a:off x="566928" y="1170432"/>
            <a:ext cx="11055096" cy="658368"/>
          </a:xfrm>
          <a:prstGeom prst="rect">
            <a:avLst/>
          </a:prstGeom>
          <a:noFill/>
          <a:ln/>
        </p:spPr>
        <p:txBody>
          <a:bodyPr wrap="square" lIns="0" tIns="0" rIns="0" bIns="0" rtlCol="0" anchor="ctr"/>
          <a:lstStyle/>
          <a:p>
            <a:pPr indent="0" marL="0">
              <a:lnSpc>
                <a:spcPct val="120000"/>
              </a:lnSpc>
              <a:buNone/>
            </a:pPr>
            <a:r>
              <a:rPr lang="en-US" sz="1500" dirty="0">
                <a:solidFill>
                  <a:srgbClr val="14202B"/>
                </a:solidFill>
                <a:latin typeface="Calibri" pitchFamily="34" charset="0"/>
                <a:ea typeface="Calibri" pitchFamily="34" charset="-122"/>
                <a:cs typeface="Calibri" pitchFamily="34" charset="-120"/>
              </a:rPr>
              <a:t>Containment fell 20 points in three weeks. Abandoned calls hardly moved, so callers are not hanging up. They are being passed to a human agent.</a:t>
            </a:r>
            <a:endParaRPr lang="en-US" sz="1500" dirty="0"/>
          </a:p>
        </p:txBody>
      </p:sp>
      <p:graphicFrame>
        <p:nvGraphicFramePr>
          <p:cNvPr id="5" name="Chart 0" descr=""/>
          <p:cNvGraphicFramePr/>
          <p:nvPr/>
        </p:nvGraphicFramePr>
        <p:xfrm>
          <a:off x="566928" y="1965960"/>
          <a:ext cx="11055096"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1105509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First check: is it the new version?</a:t>
            </a:r>
            <a:endParaRPr lang="en-US" sz="3200" dirty="0"/>
          </a:p>
        </p:txBody>
      </p:sp>
      <p:sp>
        <p:nvSpPr>
          <p:cNvPr id="3" name="Text 1"/>
          <p:cNvSpPr txBox="1"/>
          <p:nvPr/>
        </p:nvSpPr>
        <p:spPr>
          <a:xfrm>
            <a:off x="566928" y="1170432"/>
            <a:ext cx="11055096" cy="658368"/>
          </a:xfrm>
          <a:prstGeom prst="rect">
            <a:avLst/>
          </a:prstGeom>
          <a:noFill/>
          <a:ln/>
        </p:spPr>
        <p:txBody>
          <a:bodyPr wrap="square" lIns="0" tIns="0" rIns="0" bIns="0" rtlCol="0" anchor="ctr"/>
          <a:lstStyle/>
          <a:p>
            <a:pPr indent="0" marL="0">
              <a:lnSpc>
                <a:spcPct val="120000"/>
              </a:lnSpc>
              <a:buNone/>
            </a:pPr>
            <a:r>
              <a:rPr lang="en-US" sz="1500" dirty="0">
                <a:solidFill>
                  <a:srgbClr val="14202B"/>
                </a:solidFill>
                <a:latin typeface="Calibri" pitchFamily="34" charset="0"/>
                <a:ea typeface="Calibri" pitchFamily="34" charset="-122"/>
                <a:cs typeface="Calibri" pitchFamily="34" charset="-120"/>
              </a:rPr>
              <a:t>In part. In the week both versions ran together, v15 was 11.7 points behind v14. But v15 kept falling in Week 3 even though we released nothing new. So the version is not the full story.</a:t>
            </a:r>
            <a:endParaRPr lang="en-US" sz="1500" dirty="0"/>
          </a:p>
        </p:txBody>
      </p:sp>
      <p:graphicFrame>
        <p:nvGraphicFramePr>
          <p:cNvPr id="4" name="Chart 0" descr=""/>
          <p:cNvGraphicFramePr/>
          <p:nvPr/>
        </p:nvGraphicFramePr>
        <p:xfrm>
          <a:off x="566928" y="2103120"/>
          <a:ext cx="11055096"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 y="5852160"/>
            <a:ext cx="11055096" cy="365760"/>
          </a:xfrm>
          <a:prstGeom prst="rect">
            <a:avLst/>
          </a:prstGeom>
          <a:noFill/>
          <a:ln/>
        </p:spPr>
        <p:txBody>
          <a:bodyPr wrap="square" lIns="0" tIns="0" rIns="0" bIns="0" rtlCol="0" anchor="ctr"/>
          <a:lstStyle/>
          <a:p>
            <a:pPr indent="0" marL="0">
              <a:lnSpc>
                <a:spcPct val="115000"/>
              </a:lnSpc>
              <a:buNone/>
            </a:pPr>
            <a:r>
              <a:rPr lang="en-US" sz="1150" dirty="0">
                <a:solidFill>
                  <a:srgbClr val="7A8A94"/>
                </a:solidFill>
                <a:latin typeface="Calibri" pitchFamily="34" charset="0"/>
                <a:ea typeface="Calibri" pitchFamily="34" charset="-122"/>
                <a:cs typeface="Calibri" pitchFamily="34" charset="-120"/>
              </a:rPr>
              <a:t>v14: 1,948 calls  ·  v15: 1,596 calls  ·  v15 went live on 28 August, inside Week 2</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1105509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Second check: which intent is breaking?</a:t>
            </a:r>
            <a:endParaRPr lang="en-US" sz="3200" dirty="0"/>
          </a:p>
        </p:txBody>
      </p:sp>
      <p:sp>
        <p:nvSpPr>
          <p:cNvPr id="3" name="Text 1"/>
          <p:cNvSpPr txBox="1"/>
          <p:nvPr/>
        </p:nvSpPr>
        <p:spPr>
          <a:xfrm>
            <a:off x="566928" y="1170432"/>
            <a:ext cx="11055096" cy="658368"/>
          </a:xfrm>
          <a:prstGeom prst="rect">
            <a:avLst/>
          </a:prstGeom>
          <a:noFill/>
          <a:ln/>
        </p:spPr>
        <p:txBody>
          <a:bodyPr wrap="square" lIns="0" tIns="0" rIns="0" bIns="0" rtlCol="0" anchor="ctr"/>
          <a:lstStyle/>
          <a:p>
            <a:pPr indent="0" marL="0">
              <a:lnSpc>
                <a:spcPct val="120000"/>
              </a:lnSpc>
              <a:buNone/>
            </a:pPr>
            <a:r>
              <a:rPr lang="en-US" sz="1500" dirty="0">
                <a:solidFill>
                  <a:srgbClr val="14202B"/>
                </a:solidFill>
                <a:latin typeface="Calibri" pitchFamily="34" charset="0"/>
                <a:ea typeface="Calibri" pitchFamily="34" charset="-122"/>
                <a:cs typeface="Calibri" pitchFamily="34" charset="-120"/>
              </a:rPr>
              <a:t>The containment gap between v14 and v15 in Week 2, split by intent. One of the four carries almost all of it.</a:t>
            </a:r>
            <a:endParaRPr lang="en-US" sz="1500" dirty="0"/>
          </a:p>
        </p:txBody>
      </p:sp>
      <p:graphicFrame>
        <p:nvGraphicFramePr>
          <p:cNvPr id="4" name="Chart 0" descr=""/>
          <p:cNvGraphicFramePr/>
          <p:nvPr/>
        </p:nvGraphicFramePr>
        <p:xfrm>
          <a:off x="566928" y="2057400"/>
          <a:ext cx="11055096"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 y="5303520"/>
            <a:ext cx="45720" cy="566928"/>
          </a:xfrm>
          <a:prstGeom prst="rect">
            <a:avLst/>
          </a:prstGeom>
          <a:solidFill>
            <a:srgbClr val="D6402C"/>
          </a:solidFill>
          <a:ln/>
        </p:spPr>
      </p:sp>
      <p:sp>
        <p:nvSpPr>
          <p:cNvPr id="6" name="Text 3"/>
          <p:cNvSpPr txBox="1"/>
          <p:nvPr/>
        </p:nvSpPr>
        <p:spPr>
          <a:xfrm>
            <a:off x="768096" y="5266944"/>
            <a:ext cx="10780776" cy="640080"/>
          </a:xfrm>
          <a:prstGeom prst="rect">
            <a:avLst/>
          </a:prstGeom>
          <a:noFill/>
          <a:ln/>
        </p:spPr>
        <p:txBody>
          <a:bodyPr wrap="square" lIns="0" tIns="0" rIns="0" bIns="0" rtlCol="0" anchor="ctr"/>
          <a:lstStyle/>
          <a:p>
            <a:pPr indent="0" marL="0">
              <a:lnSpc>
                <a:spcPct val="115000"/>
              </a:lnSpc>
              <a:buNone/>
            </a:pPr>
            <a:r>
              <a:rPr lang="en-US" sz="1450" dirty="0">
                <a:solidFill>
                  <a:srgbClr val="14202B"/>
                </a:solidFill>
                <a:latin typeface="Calibri" pitchFamily="34" charset="0"/>
                <a:ea typeface="Calibri" pitchFamily="34" charset="-122"/>
                <a:cs typeface="Calibri" pitchFamily="34" charset="-120"/>
              </a:rPr>
              <a:t>claim_status fell from 69.9% to 49.9%. The other three moved by only 3 to 9 points. So I looked there next.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1105509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What I checked and ruled out</a:t>
            </a:r>
            <a:endParaRPr lang="en-US" sz="3200" dirty="0"/>
          </a:p>
        </p:txBody>
      </p:sp>
      <p:sp>
        <p:nvSpPr>
          <p:cNvPr id="3" name="Shape 1"/>
          <p:cNvSpPr/>
          <p:nvPr/>
        </p:nvSpPr>
        <p:spPr>
          <a:xfrm>
            <a:off x="566928" y="1463040"/>
            <a:ext cx="2679192" cy="3291840"/>
          </a:xfrm>
          <a:prstGeom prst="rect">
            <a:avLst/>
          </a:prstGeom>
          <a:solidFill>
            <a:srgbClr val="FFFFFF"/>
          </a:solidFill>
          <a:ln w="9525">
            <a:solidFill>
              <a:srgbClr val="C9D2D4"/>
            </a:solidFill>
            <a:prstDash val="solid"/>
          </a:ln>
        </p:spPr>
      </p:sp>
      <p:sp>
        <p:nvSpPr>
          <p:cNvPr id="4" name="Text 2"/>
          <p:cNvSpPr txBox="1"/>
          <p:nvPr/>
        </p:nvSpPr>
        <p:spPr>
          <a:xfrm>
            <a:off x="804672" y="1691640"/>
            <a:ext cx="2203704" cy="365760"/>
          </a:xfrm>
          <a:prstGeom prst="rect">
            <a:avLst/>
          </a:prstGeom>
          <a:noFill/>
          <a:ln/>
        </p:spPr>
        <p:txBody>
          <a:bodyPr wrap="square" lIns="0" tIns="0" rIns="0" bIns="0" rtlCol="0" anchor="ctr"/>
          <a:lstStyle/>
          <a:p>
            <a:pPr indent="0" marL="0">
              <a:buNone/>
            </a:pPr>
            <a:r>
              <a:rPr lang="en-US" sz="1450" b="1" dirty="0">
                <a:solidFill>
                  <a:srgbClr val="14202B"/>
                </a:solidFill>
                <a:latin typeface="Calibri" pitchFamily="34" charset="0"/>
                <a:ea typeface="Calibri" pitchFamily="34" charset="-122"/>
                <a:cs typeface="Calibri" pitchFamily="34" charset="-120"/>
              </a:rPr>
              <a:t>Speech recognition</a:t>
            </a:r>
            <a:endParaRPr lang="en-US" sz="1450" dirty="0"/>
          </a:p>
        </p:txBody>
      </p:sp>
      <p:sp>
        <p:nvSpPr>
          <p:cNvPr id="5" name="Text 3"/>
          <p:cNvSpPr txBox="1"/>
          <p:nvPr/>
        </p:nvSpPr>
        <p:spPr>
          <a:xfrm>
            <a:off x="804672" y="2212848"/>
            <a:ext cx="2203704" cy="731520"/>
          </a:xfrm>
          <a:prstGeom prst="rect">
            <a:avLst/>
          </a:prstGeom>
          <a:noFill/>
          <a:ln/>
        </p:spPr>
        <p:txBody>
          <a:bodyPr wrap="square" lIns="0" tIns="0" rIns="0" bIns="0" rtlCol="0" anchor="ctr"/>
          <a:lstStyle/>
          <a:p>
            <a:pPr indent="0" marL="0">
              <a:lnSpc>
                <a:spcPct val="110000"/>
              </a:lnSpc>
              <a:buNone/>
            </a:pPr>
            <a:r>
              <a:rPr lang="en-US" sz="1700" b="1" dirty="0">
                <a:solidFill>
                  <a:srgbClr val="2F6F6B"/>
                </a:solidFill>
                <a:latin typeface="Calibri" pitchFamily="34" charset="0"/>
                <a:ea typeface="Calibri" pitchFamily="34" charset="-122"/>
                <a:cs typeface="Calibri" pitchFamily="34" charset="-120"/>
              </a:rPr>
              <a:t>91.8% → 90.4%</a:t>
            </a:r>
            <a:endParaRPr lang="en-US" sz="1700" dirty="0"/>
          </a:p>
        </p:txBody>
      </p:sp>
      <p:sp>
        <p:nvSpPr>
          <p:cNvPr id="6" name="Text 4"/>
          <p:cNvSpPr txBox="1"/>
          <p:nvPr/>
        </p:nvSpPr>
        <p:spPr>
          <a:xfrm>
            <a:off x="804672" y="3063240"/>
            <a:ext cx="2203704" cy="1051560"/>
          </a:xfrm>
          <a:prstGeom prst="rect">
            <a:avLst/>
          </a:prstGeom>
          <a:noFill/>
          <a:ln/>
        </p:spPr>
        <p:txBody>
          <a:bodyPr wrap="square" lIns="0" tIns="0" rIns="0" bIns="0" rtlCol="0" anchor="ctr"/>
          <a:lstStyle/>
          <a:p>
            <a:pPr indent="0" marL="0">
              <a:lnSpc>
                <a:spcPct val="120000"/>
              </a:lnSpc>
              <a:buNone/>
            </a:pPr>
            <a:r>
              <a:rPr lang="en-US" sz="1200" dirty="0">
                <a:solidFill>
                  <a:srgbClr val="7A8A94"/>
                </a:solidFill>
                <a:latin typeface="Calibri" pitchFamily="34" charset="0"/>
                <a:ea typeface="Calibri" pitchFamily="34" charset="-122"/>
                <a:cs typeface="Calibri" pitchFamily="34" charset="-120"/>
              </a:rPr>
              <a:t>Average confidence barely moved across the three weeks.</a:t>
            </a:r>
            <a:endParaRPr lang="en-US" sz="1200" dirty="0"/>
          </a:p>
        </p:txBody>
      </p:sp>
      <p:sp>
        <p:nvSpPr>
          <p:cNvPr id="7" name="Shape 5"/>
          <p:cNvSpPr/>
          <p:nvPr/>
        </p:nvSpPr>
        <p:spPr>
          <a:xfrm>
            <a:off x="3511296" y="1463040"/>
            <a:ext cx="2679192" cy="3291840"/>
          </a:xfrm>
          <a:prstGeom prst="rect">
            <a:avLst/>
          </a:prstGeom>
          <a:solidFill>
            <a:srgbClr val="FFFFFF"/>
          </a:solidFill>
          <a:ln w="9525">
            <a:solidFill>
              <a:srgbClr val="C9D2D4"/>
            </a:solidFill>
            <a:prstDash val="solid"/>
          </a:ln>
        </p:spPr>
      </p:sp>
      <p:sp>
        <p:nvSpPr>
          <p:cNvPr id="8" name="Text 6"/>
          <p:cNvSpPr txBox="1"/>
          <p:nvPr/>
        </p:nvSpPr>
        <p:spPr>
          <a:xfrm>
            <a:off x="3749040" y="1691640"/>
            <a:ext cx="2203704" cy="365760"/>
          </a:xfrm>
          <a:prstGeom prst="rect">
            <a:avLst/>
          </a:prstGeom>
          <a:noFill/>
          <a:ln/>
        </p:spPr>
        <p:txBody>
          <a:bodyPr wrap="square" lIns="0" tIns="0" rIns="0" bIns="0" rtlCol="0" anchor="ctr"/>
          <a:lstStyle/>
          <a:p>
            <a:pPr indent="0" marL="0">
              <a:buNone/>
            </a:pPr>
            <a:r>
              <a:rPr lang="en-US" sz="1450" b="1" dirty="0">
                <a:solidFill>
                  <a:srgbClr val="14202B"/>
                </a:solidFill>
                <a:latin typeface="Calibri" pitchFamily="34" charset="0"/>
                <a:ea typeface="Calibri" pitchFamily="34" charset="-122"/>
                <a:cs typeface="Calibri" pitchFamily="34" charset="-120"/>
              </a:rPr>
              <a:t>Backend tool failures</a:t>
            </a:r>
            <a:endParaRPr lang="en-US" sz="1450" dirty="0"/>
          </a:p>
        </p:txBody>
      </p:sp>
      <p:sp>
        <p:nvSpPr>
          <p:cNvPr id="9" name="Text 7"/>
          <p:cNvSpPr txBox="1"/>
          <p:nvPr/>
        </p:nvSpPr>
        <p:spPr>
          <a:xfrm>
            <a:off x="3749040" y="2212848"/>
            <a:ext cx="2203704" cy="731520"/>
          </a:xfrm>
          <a:prstGeom prst="rect">
            <a:avLst/>
          </a:prstGeom>
          <a:noFill/>
          <a:ln/>
        </p:spPr>
        <p:txBody>
          <a:bodyPr wrap="square" lIns="0" tIns="0" rIns="0" bIns="0" rtlCol="0" anchor="ctr"/>
          <a:lstStyle/>
          <a:p>
            <a:pPr indent="0" marL="0">
              <a:lnSpc>
                <a:spcPct val="110000"/>
              </a:lnSpc>
              <a:buNone/>
            </a:pPr>
            <a:r>
              <a:rPr lang="en-US" sz="1700" b="1" dirty="0">
                <a:solidFill>
                  <a:srgbClr val="2F6F6B"/>
                </a:solidFill>
                <a:latin typeface="Calibri" pitchFamily="34" charset="0"/>
                <a:ea typeface="Calibri" pitchFamily="34" charset="-122"/>
                <a:cs typeface="Calibri" pitchFamily="34" charset="-120"/>
              </a:rPr>
              <a:t>1.51% → 0.96%</a:t>
            </a:r>
            <a:endParaRPr lang="en-US" sz="1700" dirty="0"/>
          </a:p>
        </p:txBody>
      </p:sp>
      <p:sp>
        <p:nvSpPr>
          <p:cNvPr id="10" name="Text 8"/>
          <p:cNvSpPr txBox="1"/>
          <p:nvPr/>
        </p:nvSpPr>
        <p:spPr>
          <a:xfrm>
            <a:off x="3749040" y="3063240"/>
            <a:ext cx="2203704" cy="1051560"/>
          </a:xfrm>
          <a:prstGeom prst="rect">
            <a:avLst/>
          </a:prstGeom>
          <a:noFill/>
          <a:ln/>
        </p:spPr>
        <p:txBody>
          <a:bodyPr wrap="square" lIns="0" tIns="0" rIns="0" bIns="0" rtlCol="0" anchor="ctr"/>
          <a:lstStyle/>
          <a:p>
            <a:pPr indent="0" marL="0">
              <a:lnSpc>
                <a:spcPct val="120000"/>
              </a:lnSpc>
              <a:buNone/>
            </a:pPr>
            <a:r>
              <a:rPr lang="en-US" sz="1200" dirty="0">
                <a:solidFill>
                  <a:srgbClr val="7A8A94"/>
                </a:solidFill>
                <a:latin typeface="Calibri" pitchFamily="34" charset="0"/>
                <a:ea typeface="Calibri" pitchFamily="34" charset="-122"/>
                <a:cs typeface="Calibri" pitchFamily="34" charset="-120"/>
              </a:rPr>
              <a:t>The failure rate went down while transfers went up.</a:t>
            </a:r>
            <a:endParaRPr lang="en-US" sz="1200" dirty="0"/>
          </a:p>
        </p:txBody>
      </p:sp>
      <p:sp>
        <p:nvSpPr>
          <p:cNvPr id="11" name="Shape 9"/>
          <p:cNvSpPr/>
          <p:nvPr/>
        </p:nvSpPr>
        <p:spPr>
          <a:xfrm>
            <a:off x="6455664" y="1463040"/>
            <a:ext cx="2679192" cy="3291840"/>
          </a:xfrm>
          <a:prstGeom prst="rect">
            <a:avLst/>
          </a:prstGeom>
          <a:solidFill>
            <a:srgbClr val="FFFFFF"/>
          </a:solidFill>
          <a:ln w="9525">
            <a:solidFill>
              <a:srgbClr val="C9D2D4"/>
            </a:solidFill>
            <a:prstDash val="solid"/>
          </a:ln>
        </p:spPr>
      </p:sp>
      <p:sp>
        <p:nvSpPr>
          <p:cNvPr id="12" name="Text 10"/>
          <p:cNvSpPr txBox="1"/>
          <p:nvPr/>
        </p:nvSpPr>
        <p:spPr>
          <a:xfrm>
            <a:off x="6693408" y="1691640"/>
            <a:ext cx="2203704" cy="365760"/>
          </a:xfrm>
          <a:prstGeom prst="rect">
            <a:avLst/>
          </a:prstGeom>
          <a:noFill/>
          <a:ln/>
        </p:spPr>
        <p:txBody>
          <a:bodyPr wrap="square" lIns="0" tIns="0" rIns="0" bIns="0" rtlCol="0" anchor="ctr"/>
          <a:lstStyle/>
          <a:p>
            <a:pPr indent="0" marL="0">
              <a:buNone/>
            </a:pPr>
            <a:r>
              <a:rPr lang="en-US" sz="1450" b="1" dirty="0">
                <a:solidFill>
                  <a:srgbClr val="14202B"/>
                </a:solidFill>
                <a:latin typeface="Calibri" pitchFamily="34" charset="0"/>
                <a:ea typeface="Calibri" pitchFamily="34" charset="-122"/>
                <a:cs typeface="Calibri" pitchFamily="34" charset="-120"/>
              </a:rPr>
              <a:t>Language</a:t>
            </a:r>
            <a:endParaRPr lang="en-US" sz="1450" dirty="0"/>
          </a:p>
        </p:txBody>
      </p:sp>
      <p:sp>
        <p:nvSpPr>
          <p:cNvPr id="13" name="Text 11"/>
          <p:cNvSpPr txBox="1"/>
          <p:nvPr/>
        </p:nvSpPr>
        <p:spPr>
          <a:xfrm>
            <a:off x="6693408" y="2212848"/>
            <a:ext cx="2203704" cy="731520"/>
          </a:xfrm>
          <a:prstGeom prst="rect">
            <a:avLst/>
          </a:prstGeom>
          <a:noFill/>
          <a:ln/>
        </p:spPr>
        <p:txBody>
          <a:bodyPr wrap="square" lIns="0" tIns="0" rIns="0" bIns="0" rtlCol="0" anchor="ctr"/>
          <a:lstStyle/>
          <a:p>
            <a:pPr indent="0" marL="0">
              <a:lnSpc>
                <a:spcPct val="110000"/>
              </a:lnSpc>
              <a:buNone/>
            </a:pPr>
            <a:r>
              <a:rPr lang="en-US" sz="1700" b="1" dirty="0">
                <a:solidFill>
                  <a:srgbClr val="2F6F6B"/>
                </a:solidFill>
                <a:latin typeface="Calibri" pitchFamily="34" charset="0"/>
                <a:ea typeface="Calibri" pitchFamily="34" charset="-122"/>
                <a:cs typeface="Calibri" pitchFamily="34" charset="-120"/>
              </a:rPr>
              <a:t>English and Hindi</a:t>
            </a:r>
            <a:endParaRPr lang="en-US" sz="1700" dirty="0"/>
          </a:p>
        </p:txBody>
      </p:sp>
      <p:sp>
        <p:nvSpPr>
          <p:cNvPr id="14" name="Text 12"/>
          <p:cNvSpPr txBox="1"/>
          <p:nvPr/>
        </p:nvSpPr>
        <p:spPr>
          <a:xfrm>
            <a:off x="6693408" y="3063240"/>
            <a:ext cx="2203704" cy="1051560"/>
          </a:xfrm>
          <a:prstGeom prst="rect">
            <a:avLst/>
          </a:prstGeom>
          <a:noFill/>
          <a:ln/>
        </p:spPr>
        <p:txBody>
          <a:bodyPr wrap="square" lIns="0" tIns="0" rIns="0" bIns="0" rtlCol="0" anchor="ctr"/>
          <a:lstStyle/>
          <a:p>
            <a:pPr indent="0" marL="0">
              <a:lnSpc>
                <a:spcPct val="120000"/>
              </a:lnSpc>
              <a:buNone/>
            </a:pPr>
            <a:r>
              <a:rPr lang="en-US" sz="1200" dirty="0">
                <a:solidFill>
                  <a:srgbClr val="7A8A94"/>
                </a:solidFill>
                <a:latin typeface="Calibri" pitchFamily="34" charset="0"/>
                <a:ea typeface="Calibri" pitchFamily="34" charset="-122"/>
                <a:cs typeface="Calibri" pitchFamily="34" charset="-120"/>
              </a:rPr>
              <a:t>Both fell by a similar amount. Neither language stands out.</a:t>
            </a:r>
            <a:endParaRPr lang="en-US" sz="1200" dirty="0"/>
          </a:p>
        </p:txBody>
      </p:sp>
      <p:sp>
        <p:nvSpPr>
          <p:cNvPr id="15" name="Shape 13"/>
          <p:cNvSpPr/>
          <p:nvPr/>
        </p:nvSpPr>
        <p:spPr>
          <a:xfrm>
            <a:off x="9400032" y="1463040"/>
            <a:ext cx="2679192" cy="3291840"/>
          </a:xfrm>
          <a:prstGeom prst="rect">
            <a:avLst/>
          </a:prstGeom>
          <a:solidFill>
            <a:srgbClr val="FFFFFF"/>
          </a:solidFill>
          <a:ln w="9525">
            <a:solidFill>
              <a:srgbClr val="C9D2D4"/>
            </a:solidFill>
            <a:prstDash val="solid"/>
          </a:ln>
        </p:spPr>
      </p:sp>
      <p:sp>
        <p:nvSpPr>
          <p:cNvPr id="16" name="Text 14"/>
          <p:cNvSpPr txBox="1"/>
          <p:nvPr/>
        </p:nvSpPr>
        <p:spPr>
          <a:xfrm>
            <a:off x="9637776" y="1691640"/>
            <a:ext cx="2203704" cy="365760"/>
          </a:xfrm>
          <a:prstGeom prst="rect">
            <a:avLst/>
          </a:prstGeom>
          <a:noFill/>
          <a:ln/>
        </p:spPr>
        <p:txBody>
          <a:bodyPr wrap="square" lIns="0" tIns="0" rIns="0" bIns="0" rtlCol="0" anchor="ctr"/>
          <a:lstStyle/>
          <a:p>
            <a:pPr indent="0" marL="0">
              <a:buNone/>
            </a:pPr>
            <a:r>
              <a:rPr lang="en-US" sz="1450" b="1" dirty="0">
                <a:solidFill>
                  <a:srgbClr val="14202B"/>
                </a:solidFill>
                <a:latin typeface="Calibri" pitchFamily="34" charset="0"/>
                <a:ea typeface="Calibri" pitchFamily="34" charset="-122"/>
                <a:cs typeface="Calibri" pitchFamily="34" charset="-120"/>
              </a:rPr>
              <a:t>Call length</a:t>
            </a:r>
            <a:endParaRPr lang="en-US" sz="1450" dirty="0"/>
          </a:p>
        </p:txBody>
      </p:sp>
      <p:sp>
        <p:nvSpPr>
          <p:cNvPr id="17" name="Text 15"/>
          <p:cNvSpPr txBox="1"/>
          <p:nvPr/>
        </p:nvSpPr>
        <p:spPr>
          <a:xfrm>
            <a:off x="9637776" y="2212848"/>
            <a:ext cx="2203704" cy="731520"/>
          </a:xfrm>
          <a:prstGeom prst="rect">
            <a:avLst/>
          </a:prstGeom>
          <a:noFill/>
          <a:ln/>
        </p:spPr>
        <p:txBody>
          <a:bodyPr wrap="square" lIns="0" tIns="0" rIns="0" bIns="0" rtlCol="0" anchor="ctr"/>
          <a:lstStyle/>
          <a:p>
            <a:pPr indent="0" marL="0">
              <a:lnSpc>
                <a:spcPct val="110000"/>
              </a:lnSpc>
              <a:buNone/>
            </a:pPr>
            <a:r>
              <a:rPr lang="en-US" sz="1700" b="1" dirty="0">
                <a:solidFill>
                  <a:srgbClr val="2F6F6B"/>
                </a:solidFill>
                <a:latin typeface="Calibri" pitchFamily="34" charset="0"/>
                <a:ea typeface="Calibri" pitchFamily="34" charset="-122"/>
                <a:cs typeface="Calibri" pitchFamily="34" charset="-120"/>
              </a:rPr>
              <a:t>135.4s vs 135.2s</a:t>
            </a:r>
            <a:endParaRPr lang="en-US" sz="1700" dirty="0"/>
          </a:p>
        </p:txBody>
      </p:sp>
      <p:sp>
        <p:nvSpPr>
          <p:cNvPr id="18" name="Text 16"/>
          <p:cNvSpPr txBox="1"/>
          <p:nvPr/>
        </p:nvSpPr>
        <p:spPr>
          <a:xfrm>
            <a:off x="9637776" y="3063240"/>
            <a:ext cx="2203704" cy="1051560"/>
          </a:xfrm>
          <a:prstGeom prst="rect">
            <a:avLst/>
          </a:prstGeom>
          <a:noFill/>
          <a:ln/>
        </p:spPr>
        <p:txBody>
          <a:bodyPr wrap="square" lIns="0" tIns="0" rIns="0" bIns="0" rtlCol="0" anchor="ctr"/>
          <a:lstStyle/>
          <a:p>
            <a:pPr indent="0" marL="0">
              <a:lnSpc>
                <a:spcPct val="120000"/>
              </a:lnSpc>
              <a:buNone/>
            </a:pPr>
            <a:r>
              <a:rPr lang="en-US" sz="1200" dirty="0">
                <a:solidFill>
                  <a:srgbClr val="7A8A94"/>
                </a:solidFill>
                <a:latin typeface="Calibri" pitchFamily="34" charset="0"/>
                <a:ea typeface="Calibri" pitchFamily="34" charset="-122"/>
                <a:cs typeface="Calibri" pitchFamily="34" charset="-120"/>
              </a:rPr>
              <a:t>Almost identical in Week 2. Calls were not longer or more confused.</a:t>
            </a:r>
            <a:endParaRPr lang="en-US" sz="1200" dirty="0"/>
          </a:p>
        </p:txBody>
      </p:sp>
      <p:sp>
        <p:nvSpPr>
          <p:cNvPr id="19" name="Shape 17"/>
          <p:cNvSpPr/>
          <p:nvPr/>
        </p:nvSpPr>
        <p:spPr>
          <a:xfrm>
            <a:off x="566928" y="5166360"/>
            <a:ext cx="45720" cy="566928"/>
          </a:xfrm>
          <a:prstGeom prst="rect">
            <a:avLst/>
          </a:prstGeom>
          <a:solidFill>
            <a:srgbClr val="D6402C"/>
          </a:solidFill>
          <a:ln/>
        </p:spPr>
      </p:sp>
      <p:sp>
        <p:nvSpPr>
          <p:cNvPr id="20" name="Text 18"/>
          <p:cNvSpPr txBox="1"/>
          <p:nvPr/>
        </p:nvSpPr>
        <p:spPr>
          <a:xfrm>
            <a:off x="768096" y="5129784"/>
            <a:ext cx="10780776" cy="640080"/>
          </a:xfrm>
          <a:prstGeom prst="rect">
            <a:avLst/>
          </a:prstGeom>
          <a:noFill/>
          <a:ln/>
        </p:spPr>
        <p:txBody>
          <a:bodyPr wrap="square" lIns="0" tIns="0" rIns="0" bIns="0" rtlCol="0" anchor="ctr"/>
          <a:lstStyle/>
          <a:p>
            <a:pPr indent="0" marL="0">
              <a:lnSpc>
                <a:spcPct val="115000"/>
              </a:lnSpc>
              <a:buNone/>
            </a:pPr>
            <a:r>
              <a:rPr lang="en-US" sz="1450" dirty="0">
                <a:solidFill>
                  <a:srgbClr val="14202B"/>
                </a:solidFill>
                <a:latin typeface="Calibri" pitchFamily="34" charset="0"/>
                <a:ea typeface="Calibri" pitchFamily="34" charset="-122"/>
                <a:cs typeface="Calibri" pitchFamily="34" charset="-120"/>
              </a:rPr>
              <a:t>None of these explain the drop. So the problem is not in hearing the caller, and not in the backend sending errors.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1105509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The mechanism: one intent got slow</a:t>
            </a:r>
            <a:endParaRPr lang="en-US" sz="3200" dirty="0"/>
          </a:p>
        </p:txBody>
      </p:sp>
      <p:sp>
        <p:nvSpPr>
          <p:cNvPr id="3" name="Text 1"/>
          <p:cNvSpPr txBox="1"/>
          <p:nvPr/>
        </p:nvSpPr>
        <p:spPr>
          <a:xfrm>
            <a:off x="566928" y="1170432"/>
            <a:ext cx="11055096" cy="658368"/>
          </a:xfrm>
          <a:prstGeom prst="rect">
            <a:avLst/>
          </a:prstGeom>
          <a:noFill/>
          <a:ln/>
        </p:spPr>
        <p:txBody>
          <a:bodyPr wrap="square" lIns="0" tIns="0" rIns="0" bIns="0" rtlCol="0" anchor="ctr"/>
          <a:lstStyle/>
          <a:p>
            <a:pPr indent="0" marL="0">
              <a:lnSpc>
                <a:spcPct val="120000"/>
              </a:lnSpc>
              <a:buNone/>
            </a:pPr>
            <a:r>
              <a:rPr lang="en-US" sz="1500" dirty="0">
                <a:solidFill>
                  <a:srgbClr val="14202B"/>
                </a:solidFill>
                <a:latin typeface="Calibri" pitchFamily="34" charset="0"/>
                <a:ea typeface="Calibri" pitchFamily="34" charset="-122"/>
                <a:cs typeface="Calibri" pitchFamily="34" charset="-120"/>
              </a:rPr>
              <a:t>The reply time for claim_status more than doubled. The other three intents stayed between 440 and 465 ms in all three weeks. The backend lookup time itself did not change, so the delay is on the agent side.</a:t>
            </a:r>
            <a:endParaRPr lang="en-US" sz="1500" dirty="0"/>
          </a:p>
        </p:txBody>
      </p:sp>
      <p:graphicFrame>
        <p:nvGraphicFramePr>
          <p:cNvPr id="4" name="Chart 0" descr=""/>
          <p:cNvGraphicFramePr/>
          <p:nvPr/>
        </p:nvGraphicFramePr>
        <p:xfrm>
          <a:off x="566928" y="2103120"/>
          <a:ext cx="11055096" cy="40233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1105509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The timeline that answers it</a:t>
            </a:r>
            <a:endParaRPr lang="en-US" sz="3200" dirty="0"/>
          </a:p>
        </p:txBody>
      </p:sp>
      <p:sp>
        <p:nvSpPr>
          <p:cNvPr id="3" name="Shape 1"/>
          <p:cNvSpPr/>
          <p:nvPr/>
        </p:nvSpPr>
        <p:spPr>
          <a:xfrm>
            <a:off x="1051560" y="3291840"/>
            <a:ext cx="10104120" cy="0"/>
          </a:xfrm>
          <a:prstGeom prst="line">
            <a:avLst/>
          </a:prstGeom>
          <a:noFill/>
          <a:ln w="22225">
            <a:solidFill>
              <a:srgbClr val="C9D2D4"/>
            </a:solidFill>
            <a:prstDash val="solid"/>
          </a:ln>
        </p:spPr>
      </p:sp>
      <p:sp>
        <p:nvSpPr>
          <p:cNvPr id="4" name="Shape 2"/>
          <p:cNvSpPr/>
          <p:nvPr/>
        </p:nvSpPr>
        <p:spPr>
          <a:xfrm>
            <a:off x="978408" y="3218688"/>
            <a:ext cx="146304" cy="146304"/>
          </a:xfrm>
          <a:prstGeom prst="ellipse">
            <a:avLst/>
          </a:prstGeom>
          <a:solidFill>
            <a:srgbClr val="7A8A94"/>
          </a:solidFill>
          <a:ln w="12700">
            <a:solidFill>
              <a:srgbClr val="7A8A94"/>
            </a:solidFill>
            <a:prstDash val="solid"/>
          </a:ln>
        </p:spPr>
      </p:sp>
      <p:sp>
        <p:nvSpPr>
          <p:cNvPr id="5" name="Text 3"/>
          <p:cNvSpPr txBox="1"/>
          <p:nvPr/>
        </p:nvSpPr>
        <p:spPr>
          <a:xfrm>
            <a:off x="-320040" y="1965960"/>
            <a:ext cx="2743200" cy="292608"/>
          </a:xfrm>
          <a:prstGeom prst="rect">
            <a:avLst/>
          </a:prstGeom>
          <a:noFill/>
          <a:ln/>
        </p:spPr>
        <p:txBody>
          <a:bodyPr wrap="square" lIns="0" tIns="0" rIns="0" bIns="0" rtlCol="0" anchor="ctr"/>
          <a:lstStyle/>
          <a:p>
            <a:pPr algn="ctr" indent="0" marL="0">
              <a:buNone/>
            </a:pPr>
            <a:r>
              <a:rPr lang="en-US" sz="1450" b="1" dirty="0">
                <a:solidFill>
                  <a:srgbClr val="7A8A94"/>
                </a:solidFill>
                <a:latin typeface="Calibri" pitchFamily="34" charset="0"/>
                <a:ea typeface="Calibri" pitchFamily="34" charset="-122"/>
                <a:cs typeface="Calibri" pitchFamily="34" charset="-120"/>
              </a:rPr>
              <a:t>24 August</a:t>
            </a:r>
            <a:endParaRPr lang="en-US" sz="1450" dirty="0"/>
          </a:p>
        </p:txBody>
      </p:sp>
      <p:sp>
        <p:nvSpPr>
          <p:cNvPr id="6" name="Text 4"/>
          <p:cNvSpPr txBox="1"/>
          <p:nvPr/>
        </p:nvSpPr>
        <p:spPr>
          <a:xfrm>
            <a:off x="-365760" y="2276856"/>
            <a:ext cx="2834640" cy="685800"/>
          </a:xfrm>
          <a:prstGeom prst="rect">
            <a:avLst/>
          </a:prstGeom>
          <a:noFill/>
          <a:ln/>
        </p:spPr>
        <p:txBody>
          <a:bodyPr wrap="square" lIns="0" tIns="0" rIns="0" bIns="0" rtlCol="0" anchor="ctr"/>
          <a:lstStyle/>
          <a:p>
            <a:pPr algn="ctr" indent="0" marL="0">
              <a:lnSpc>
                <a:spcPct val="115000"/>
              </a:lnSpc>
              <a:buNone/>
            </a:pPr>
            <a:r>
              <a:rPr lang="en-US" sz="1200" dirty="0">
                <a:solidFill>
                  <a:srgbClr val="7A8A94"/>
                </a:solidFill>
                <a:latin typeface="Calibri" pitchFamily="34" charset="0"/>
                <a:ea typeface="Calibri" pitchFamily="34" charset="-122"/>
                <a:cs typeface="Calibri" pitchFamily="34" charset="-120"/>
              </a:rPr>
              <a:t>Kestrel IT raises KH-4519.</a:t>
            </a:r>
            <a:endParaRPr lang="en-US" sz="1200" dirty="0"/>
          </a:p>
          <a:p>
            <a:pPr algn="ctr" indent="0" marL="0">
              <a:lnSpc>
                <a:spcPct val="115000"/>
              </a:lnSpc>
              <a:buNone/>
            </a:pPr>
            <a:r>
              <a:rPr lang="en-US" sz="1200" dirty="0">
                <a:solidFill>
                  <a:srgbClr val="7A8A94"/>
                </a:solidFill>
                <a:latin typeface="Calibri" pitchFamily="34" charset="0"/>
                <a:ea typeface="Calibri" pitchFamily="34" charset="-122"/>
                <a:cs typeface="Calibri" pitchFamily="34" charset="-120"/>
              </a:rPr>
              <a:t>The TPA migration begins.</a:t>
            </a:r>
            <a:endParaRPr lang="en-US" sz="1200" dirty="0"/>
          </a:p>
        </p:txBody>
      </p:sp>
      <p:sp>
        <p:nvSpPr>
          <p:cNvPr id="7" name="Shape 5"/>
          <p:cNvSpPr/>
          <p:nvPr/>
        </p:nvSpPr>
        <p:spPr>
          <a:xfrm>
            <a:off x="2774290" y="3195828"/>
            <a:ext cx="192024" cy="192024"/>
          </a:xfrm>
          <a:prstGeom prst="ellipse">
            <a:avLst/>
          </a:prstGeom>
          <a:solidFill>
            <a:srgbClr val="D6402C"/>
          </a:solidFill>
          <a:ln w="12700">
            <a:solidFill>
              <a:srgbClr val="D6402C"/>
            </a:solidFill>
            <a:prstDash val="solid"/>
          </a:ln>
        </p:spPr>
      </p:sp>
      <p:sp>
        <p:nvSpPr>
          <p:cNvPr id="8" name="Text 6"/>
          <p:cNvSpPr txBox="1"/>
          <p:nvPr/>
        </p:nvSpPr>
        <p:spPr>
          <a:xfrm>
            <a:off x="1498702" y="3566160"/>
            <a:ext cx="2743200" cy="292608"/>
          </a:xfrm>
          <a:prstGeom prst="rect">
            <a:avLst/>
          </a:prstGeom>
          <a:noFill/>
          <a:ln/>
        </p:spPr>
        <p:txBody>
          <a:bodyPr wrap="square" lIns="0" tIns="0" rIns="0" bIns="0" rtlCol="0" anchor="ctr"/>
          <a:lstStyle/>
          <a:p>
            <a:pPr algn="ctr" indent="0" marL="0">
              <a:buNone/>
            </a:pPr>
            <a:r>
              <a:rPr lang="en-US" sz="1450" b="1" dirty="0">
                <a:solidFill>
                  <a:srgbClr val="D6402C"/>
                </a:solidFill>
                <a:latin typeface="Calibri" pitchFamily="34" charset="0"/>
                <a:ea typeface="Calibri" pitchFamily="34" charset="-122"/>
                <a:cs typeface="Calibri" pitchFamily="34" charset="-120"/>
              </a:rPr>
              <a:t>25 August</a:t>
            </a:r>
            <a:endParaRPr lang="en-US" sz="1450" dirty="0"/>
          </a:p>
        </p:txBody>
      </p:sp>
      <p:sp>
        <p:nvSpPr>
          <p:cNvPr id="9" name="Text 7"/>
          <p:cNvSpPr txBox="1"/>
          <p:nvPr/>
        </p:nvSpPr>
        <p:spPr>
          <a:xfrm>
            <a:off x="1452982" y="3877056"/>
            <a:ext cx="2834640" cy="685800"/>
          </a:xfrm>
          <a:prstGeom prst="rect">
            <a:avLst/>
          </a:prstGeom>
          <a:noFill/>
          <a:ln/>
        </p:spPr>
        <p:txBody>
          <a:bodyPr wrap="square" lIns="0" tIns="0" rIns="0" bIns="0" rtlCol="0" anchor="ctr"/>
          <a:lstStyle/>
          <a:p>
            <a:pPr algn="ctr" indent="0" marL="0">
              <a:lnSpc>
                <a:spcPct val="115000"/>
              </a:lnSpc>
              <a:buNone/>
            </a:pPr>
            <a:r>
              <a:rPr lang="en-US" sz="1200" dirty="0">
                <a:solidFill>
                  <a:srgbClr val="7A8A94"/>
                </a:solidFill>
                <a:latin typeface="Calibri" pitchFamily="34" charset="0"/>
                <a:ea typeface="Calibri" pitchFamily="34" charset="-122"/>
                <a:cs typeface="Calibri" pitchFamily="34" charset="-120"/>
              </a:rPr>
              <a:t>The drop begins.</a:t>
            </a:r>
            <a:endParaRPr lang="en-US" sz="1200" dirty="0"/>
          </a:p>
          <a:p>
            <a:pPr algn="ctr" indent="0" marL="0">
              <a:lnSpc>
                <a:spcPct val="115000"/>
              </a:lnSpc>
              <a:buNone/>
            </a:pPr>
            <a:r>
              <a:rPr lang="en-US" sz="1200" dirty="0">
                <a:solidFill>
                  <a:srgbClr val="7A8A94"/>
                </a:solidFill>
                <a:latin typeface="Calibri" pitchFamily="34" charset="0"/>
                <a:ea typeface="Calibri" pitchFamily="34" charset="-122"/>
                <a:cs typeface="Calibri" pitchFamily="34" charset="-120"/>
              </a:rPr>
              <a:t>We released nothing today.</a:t>
            </a:r>
            <a:endParaRPr lang="en-US" sz="1200" dirty="0"/>
          </a:p>
        </p:txBody>
      </p:sp>
      <p:sp>
        <p:nvSpPr>
          <p:cNvPr id="10" name="Shape 8"/>
          <p:cNvSpPr/>
          <p:nvPr/>
        </p:nvSpPr>
        <p:spPr>
          <a:xfrm>
            <a:off x="6232550" y="3218688"/>
            <a:ext cx="146304" cy="146304"/>
          </a:xfrm>
          <a:prstGeom prst="ellipse">
            <a:avLst/>
          </a:prstGeom>
          <a:solidFill>
            <a:srgbClr val="B07A2A"/>
          </a:solidFill>
          <a:ln w="12700">
            <a:solidFill>
              <a:srgbClr val="B07A2A"/>
            </a:solidFill>
            <a:prstDash val="solid"/>
          </a:ln>
        </p:spPr>
      </p:sp>
      <p:sp>
        <p:nvSpPr>
          <p:cNvPr id="11" name="Text 9"/>
          <p:cNvSpPr txBox="1"/>
          <p:nvPr/>
        </p:nvSpPr>
        <p:spPr>
          <a:xfrm>
            <a:off x="4934102" y="1965960"/>
            <a:ext cx="2743200" cy="292608"/>
          </a:xfrm>
          <a:prstGeom prst="rect">
            <a:avLst/>
          </a:prstGeom>
          <a:noFill/>
          <a:ln/>
        </p:spPr>
        <p:txBody>
          <a:bodyPr wrap="square" lIns="0" tIns="0" rIns="0" bIns="0" rtlCol="0" anchor="ctr"/>
          <a:lstStyle/>
          <a:p>
            <a:pPr algn="ctr" indent="0" marL="0">
              <a:buNone/>
            </a:pPr>
            <a:r>
              <a:rPr lang="en-US" sz="1450" b="1" dirty="0">
                <a:solidFill>
                  <a:srgbClr val="B07A2A"/>
                </a:solidFill>
                <a:latin typeface="Calibri" pitchFamily="34" charset="0"/>
                <a:ea typeface="Calibri" pitchFamily="34" charset="-122"/>
                <a:cs typeface="Calibri" pitchFamily="34" charset="-120"/>
              </a:rPr>
              <a:t>28 August</a:t>
            </a:r>
            <a:endParaRPr lang="en-US" sz="1450" dirty="0"/>
          </a:p>
        </p:txBody>
      </p:sp>
      <p:sp>
        <p:nvSpPr>
          <p:cNvPr id="12" name="Text 10"/>
          <p:cNvSpPr txBox="1"/>
          <p:nvPr/>
        </p:nvSpPr>
        <p:spPr>
          <a:xfrm>
            <a:off x="4888382" y="2276856"/>
            <a:ext cx="2834640" cy="685800"/>
          </a:xfrm>
          <a:prstGeom prst="rect">
            <a:avLst/>
          </a:prstGeom>
          <a:noFill/>
          <a:ln/>
        </p:spPr>
        <p:txBody>
          <a:bodyPr wrap="square" lIns="0" tIns="0" rIns="0" bIns="0" rtlCol="0" anchor="ctr"/>
          <a:lstStyle/>
          <a:p>
            <a:pPr algn="ctr" indent="0" marL="0">
              <a:lnSpc>
                <a:spcPct val="115000"/>
              </a:lnSpc>
              <a:buNone/>
            </a:pPr>
            <a:r>
              <a:rPr lang="en-US" sz="1200" dirty="0">
                <a:solidFill>
                  <a:srgbClr val="7A8A94"/>
                </a:solidFill>
                <a:latin typeface="Calibri" pitchFamily="34" charset="0"/>
                <a:ea typeface="Calibri" pitchFamily="34" charset="-122"/>
                <a:cs typeface="Calibri" pitchFamily="34" charset="-120"/>
              </a:rPr>
              <a:t>Our v15 prompt change.</a:t>
            </a:r>
            <a:endParaRPr lang="en-US" sz="1200" dirty="0"/>
          </a:p>
          <a:p>
            <a:pPr algn="ctr" indent="0" marL="0">
              <a:lnSpc>
                <a:spcPct val="115000"/>
              </a:lnSpc>
              <a:buNone/>
            </a:pPr>
            <a:r>
              <a:rPr lang="en-US" sz="1200" dirty="0">
                <a:solidFill>
                  <a:srgbClr val="7A8A94"/>
                </a:solidFill>
                <a:latin typeface="Calibri" pitchFamily="34" charset="0"/>
                <a:ea typeface="Calibri" pitchFamily="34" charset="-122"/>
                <a:cs typeface="Calibri" pitchFamily="34" charset="-120"/>
              </a:rPr>
              <a:t>Reply time rises further.</a:t>
            </a:r>
            <a:endParaRPr lang="en-US" sz="1200" dirty="0"/>
          </a:p>
        </p:txBody>
      </p:sp>
      <p:sp>
        <p:nvSpPr>
          <p:cNvPr id="13" name="Shape 11"/>
          <p:cNvSpPr/>
          <p:nvPr/>
        </p:nvSpPr>
        <p:spPr>
          <a:xfrm>
            <a:off x="11082528" y="3218688"/>
            <a:ext cx="146304" cy="146304"/>
          </a:xfrm>
          <a:prstGeom prst="ellipse">
            <a:avLst/>
          </a:prstGeom>
          <a:solidFill>
            <a:srgbClr val="7A8A94"/>
          </a:solidFill>
          <a:ln w="12700">
            <a:solidFill>
              <a:srgbClr val="7A8A94"/>
            </a:solidFill>
            <a:prstDash val="solid"/>
          </a:ln>
        </p:spPr>
      </p:sp>
      <p:sp>
        <p:nvSpPr>
          <p:cNvPr id="14" name="Text 12"/>
          <p:cNvSpPr txBox="1"/>
          <p:nvPr/>
        </p:nvSpPr>
        <p:spPr>
          <a:xfrm>
            <a:off x="9784080" y="3566160"/>
            <a:ext cx="2743200" cy="292608"/>
          </a:xfrm>
          <a:prstGeom prst="rect">
            <a:avLst/>
          </a:prstGeom>
          <a:noFill/>
          <a:ln/>
        </p:spPr>
        <p:txBody>
          <a:bodyPr wrap="square" lIns="0" tIns="0" rIns="0" bIns="0" rtlCol="0" anchor="ctr"/>
          <a:lstStyle/>
          <a:p>
            <a:pPr algn="ctr" indent="0" marL="0">
              <a:buNone/>
            </a:pPr>
            <a:r>
              <a:rPr lang="en-US" sz="1450" b="1" dirty="0">
                <a:solidFill>
                  <a:srgbClr val="7A8A94"/>
                </a:solidFill>
                <a:latin typeface="Calibri" pitchFamily="34" charset="0"/>
                <a:ea typeface="Calibri" pitchFamily="34" charset="-122"/>
                <a:cs typeface="Calibri" pitchFamily="34" charset="-120"/>
              </a:rPr>
              <a:t>5 September</a:t>
            </a:r>
            <a:endParaRPr lang="en-US" sz="1450" dirty="0"/>
          </a:p>
        </p:txBody>
      </p:sp>
      <p:sp>
        <p:nvSpPr>
          <p:cNvPr id="15" name="Text 13"/>
          <p:cNvSpPr txBox="1"/>
          <p:nvPr/>
        </p:nvSpPr>
        <p:spPr>
          <a:xfrm>
            <a:off x="9738360" y="3877056"/>
            <a:ext cx="2834640" cy="685800"/>
          </a:xfrm>
          <a:prstGeom prst="rect">
            <a:avLst/>
          </a:prstGeom>
          <a:noFill/>
          <a:ln/>
        </p:spPr>
        <p:txBody>
          <a:bodyPr wrap="square" lIns="0" tIns="0" rIns="0" bIns="0" rtlCol="0" anchor="ctr"/>
          <a:lstStyle/>
          <a:p>
            <a:pPr algn="ctr" indent="0" marL="0">
              <a:lnSpc>
                <a:spcPct val="115000"/>
              </a:lnSpc>
              <a:buNone/>
            </a:pPr>
            <a:r>
              <a:rPr lang="en-US" sz="1200" dirty="0">
                <a:solidFill>
                  <a:srgbClr val="7A8A94"/>
                </a:solidFill>
                <a:latin typeface="Calibri" pitchFamily="34" charset="0"/>
                <a:ea typeface="Calibri" pitchFamily="34" charset="-122"/>
                <a:cs typeface="Calibri" pitchFamily="34" charset="-120"/>
              </a:rPr>
              <a:t>Still open. A human agent</a:t>
            </a:r>
            <a:endParaRPr lang="en-US" sz="1200" dirty="0"/>
          </a:p>
          <a:p>
            <a:pPr algn="ctr" indent="0" marL="0">
              <a:lnSpc>
                <a:spcPct val="115000"/>
              </a:lnSpc>
              <a:buNone/>
            </a:pPr>
            <a:r>
              <a:rPr lang="en-US" sz="1200" dirty="0">
                <a:solidFill>
                  <a:srgbClr val="7A8A94"/>
                </a:solidFill>
                <a:latin typeface="Calibri" pitchFamily="34" charset="0"/>
                <a:ea typeface="Calibri" pitchFamily="34" charset="-122"/>
                <a:cs typeface="Calibri" pitchFamily="34" charset="-120"/>
              </a:rPr>
              <a:t>finds the claim by hand.</a:t>
            </a:r>
            <a:endParaRPr lang="en-US" sz="1200" dirty="0"/>
          </a:p>
        </p:txBody>
      </p:sp>
      <p:sp>
        <p:nvSpPr>
          <p:cNvPr id="16" name="Text 14"/>
          <p:cNvSpPr txBox="1"/>
          <p:nvPr/>
        </p:nvSpPr>
        <p:spPr>
          <a:xfrm>
            <a:off x="1773022" y="5074920"/>
            <a:ext cx="5629961" cy="310896"/>
          </a:xfrm>
          <a:prstGeom prst="rect">
            <a:avLst/>
          </a:prstGeom>
          <a:noFill/>
          <a:ln/>
        </p:spPr>
        <p:txBody>
          <a:bodyPr wrap="square" lIns="0" tIns="0" rIns="0" bIns="0" rtlCol="0" anchor="ctr"/>
          <a:lstStyle/>
          <a:p>
            <a:pPr algn="ctr" indent="0" marL="0">
              <a:buNone/>
            </a:pPr>
            <a:r>
              <a:rPr lang="en-US" sz="1250" dirty="0">
                <a:solidFill>
                  <a:srgbClr val="D6402C"/>
                </a:solidFill>
                <a:latin typeface="Calibri" pitchFamily="34" charset="0"/>
                <a:ea typeface="Calibri" pitchFamily="34" charset="-122"/>
                <a:cs typeface="Calibri" pitchFamily="34" charset="-120"/>
              </a:rPr>
              <a:t>the problem was already 3 days old when we released v15</a:t>
            </a:r>
            <a:endParaRPr lang="en-US" sz="1250" dirty="0"/>
          </a:p>
        </p:txBody>
      </p:sp>
      <p:sp>
        <p:nvSpPr>
          <p:cNvPr id="17" name="Shape 15"/>
          <p:cNvSpPr/>
          <p:nvPr/>
        </p:nvSpPr>
        <p:spPr>
          <a:xfrm>
            <a:off x="566928" y="5669280"/>
            <a:ext cx="45720" cy="566928"/>
          </a:xfrm>
          <a:prstGeom prst="rect">
            <a:avLst/>
          </a:prstGeom>
          <a:solidFill>
            <a:srgbClr val="D6402C"/>
          </a:solidFill>
          <a:ln/>
        </p:spPr>
      </p:sp>
      <p:sp>
        <p:nvSpPr>
          <p:cNvPr id="18" name="Text 16"/>
          <p:cNvSpPr txBox="1"/>
          <p:nvPr/>
        </p:nvSpPr>
        <p:spPr>
          <a:xfrm>
            <a:off x="768096" y="5632704"/>
            <a:ext cx="10780776" cy="640080"/>
          </a:xfrm>
          <a:prstGeom prst="rect">
            <a:avLst/>
          </a:prstGeom>
          <a:noFill/>
          <a:ln/>
        </p:spPr>
        <p:txBody>
          <a:bodyPr wrap="square" lIns="0" tIns="0" rIns="0" bIns="0" rtlCol="0" anchor="ctr"/>
          <a:lstStyle/>
          <a:p>
            <a:pPr indent="0" marL="0">
              <a:lnSpc>
                <a:spcPct val="115000"/>
              </a:lnSpc>
              <a:buNone/>
            </a:pPr>
            <a:r>
              <a:rPr lang="en-US" sz="1450" dirty="0">
                <a:solidFill>
                  <a:srgbClr val="14202B"/>
                </a:solidFill>
                <a:latin typeface="Calibri" pitchFamily="34" charset="0"/>
                <a:ea typeface="Calibri" pitchFamily="34" charset="-122"/>
                <a:cs typeface="Calibri" pitchFamily="34" charset="-120"/>
              </a:rPr>
              <a:t>The problem starts three days before our release. Our 28 August update added more delay on top of it, but it did not start it.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0" y="2057400"/>
            <a:ext cx="12188952" cy="365760"/>
          </a:xfrm>
          <a:prstGeom prst="rect">
            <a:avLst/>
          </a:prstGeom>
          <a:noFill/>
          <a:ln/>
        </p:spPr>
        <p:txBody>
          <a:bodyPr wrap="square" lIns="0" tIns="0" rIns="0" bIns="0" rtlCol="0" anchor="ctr"/>
          <a:lstStyle/>
          <a:p>
            <a:pPr algn="ctr" indent="0" marL="0">
              <a:buNone/>
            </a:pPr>
            <a:r>
              <a:rPr lang="en-US" sz="1400" dirty="0">
                <a:solidFill>
                  <a:srgbClr val="E98A74"/>
                </a:solidFill>
                <a:latin typeface="Calibri" pitchFamily="34" charset="0"/>
                <a:ea typeface="Calibri" pitchFamily="34" charset="-122"/>
                <a:cs typeface="Calibri" pitchFamily="34" charset="-120"/>
              </a:rPr>
              <a:t>Root cause</a:t>
            </a:r>
            <a:endParaRPr lang="en-US" sz="1400" dirty="0"/>
          </a:p>
        </p:txBody>
      </p:sp>
      <p:sp>
        <p:nvSpPr>
          <p:cNvPr id="3" name="Text 1"/>
          <p:cNvSpPr txBox="1"/>
          <p:nvPr/>
        </p:nvSpPr>
        <p:spPr>
          <a:xfrm>
            <a:off x="1188720" y="2423160"/>
            <a:ext cx="9811512" cy="1508760"/>
          </a:xfrm>
          <a:prstGeom prst="rect">
            <a:avLst/>
          </a:prstGeom>
          <a:noFill/>
          <a:ln/>
        </p:spPr>
        <p:txBody>
          <a:bodyPr wrap="square" lIns="0" tIns="0" rIns="0" bIns="0" rtlCol="0" anchor="ctr"/>
          <a:lstStyle/>
          <a:p>
            <a:pPr algn="ctr" indent="0" marL="0">
              <a:lnSpc>
                <a:spcPct val="112000"/>
              </a:lnSpc>
              <a:buNone/>
            </a:pPr>
            <a:r>
              <a:rPr lang="en-US" sz="3000" b="1" dirty="0">
                <a:solidFill>
                  <a:srgbClr val="FFFFFF"/>
                </a:solidFill>
                <a:latin typeface="Calibri" pitchFamily="34" charset="0"/>
                <a:ea typeface="Calibri" pitchFamily="34" charset="-122"/>
                <a:cs typeface="Calibri" pitchFamily="34" charset="-120"/>
              </a:rPr>
              <a:t>The evidence points to Kestrel’s TPA migration as the cause of the claim-reference matching issue.</a:t>
            </a:r>
            <a:endParaRPr lang="en-US" sz="3000" dirty="0"/>
          </a:p>
        </p:txBody>
      </p:sp>
      <p:sp>
        <p:nvSpPr>
          <p:cNvPr id="4" name="Text 2"/>
          <p:cNvSpPr txBox="1"/>
          <p:nvPr/>
        </p:nvSpPr>
        <p:spPr>
          <a:xfrm>
            <a:off x="1737360" y="4069080"/>
            <a:ext cx="8714232" cy="822960"/>
          </a:xfrm>
          <a:prstGeom prst="rect">
            <a:avLst/>
          </a:prstGeom>
          <a:noFill/>
          <a:ln/>
        </p:spPr>
        <p:txBody>
          <a:bodyPr wrap="square" lIns="0" tIns="0" rIns="0" bIns="0" rtlCol="0" anchor="ctr"/>
          <a:lstStyle/>
          <a:p>
            <a:pPr algn="ctr" indent="0" marL="0">
              <a:lnSpc>
                <a:spcPct val="125000"/>
              </a:lnSpc>
              <a:buNone/>
            </a:pPr>
            <a:r>
              <a:rPr lang="en-US" sz="1400" dirty="0">
                <a:solidFill>
                  <a:srgbClr val="9FB0B8"/>
                </a:solidFill>
                <a:latin typeface="Calibri" pitchFamily="34" charset="0"/>
                <a:ea typeface="Calibri" pitchFamily="34" charset="-122"/>
                <a:cs typeface="Calibri" pitchFamily="34" charset="-120"/>
              </a:rPr>
              <a:t>The evidence sits in support_tickets.csv (KH-4519), not in deployments.csv.</a:t>
            </a:r>
            <a:endParaRPr lang="en-US" sz="1400" dirty="0"/>
          </a:p>
          <a:p>
            <a:pPr algn="ctr" indent="0" marL="0">
              <a:lnSpc>
                <a:spcPct val="125000"/>
              </a:lnSpc>
              <a:buNone/>
            </a:pPr>
            <a:r>
              <a:rPr lang="en-US" sz="1400" dirty="0">
                <a:solidFill>
                  <a:srgbClr val="9FB0B8"/>
                </a:solidFill>
                <a:latin typeface="Calibri" pitchFamily="34" charset="0"/>
                <a:ea typeface="Calibri" pitchFamily="34" charset="-122"/>
                <a:cs typeface="Calibri" pitchFamily="34" charset="-120"/>
              </a:rPr>
              <a:t>An analysis that only read the deployment log would have pointed at our own prompt change.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867765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What it is costing</a:t>
            </a:r>
            <a:endParaRPr lang="en-US" sz="3200" dirty="0"/>
          </a:p>
        </p:txBody>
      </p:sp>
      <p:sp>
        <p:nvSpPr>
          <p:cNvPr id="3" name="Text 1"/>
          <p:cNvSpPr txBox="1"/>
          <p:nvPr/>
        </p:nvSpPr>
        <p:spPr>
          <a:xfrm>
            <a:off x="9336024" y="502920"/>
            <a:ext cx="2286000" cy="411480"/>
          </a:xfrm>
          <a:prstGeom prst="rect">
            <a:avLst/>
          </a:prstGeom>
          <a:noFill/>
          <a:ln/>
        </p:spPr>
        <p:txBody>
          <a:bodyPr wrap="square" lIns="0" tIns="0" rIns="0" bIns="0" rtlCol="0" anchor="ctr"/>
          <a:lstStyle/>
          <a:p>
            <a:pPr algn="r" indent="0" marL="0">
              <a:buNone/>
            </a:pPr>
            <a:r>
              <a:rPr lang="en-US" sz="1200" dirty="0">
                <a:solidFill>
                  <a:srgbClr val="7A8A94"/>
                </a:solidFill>
                <a:latin typeface="Calibri" pitchFamily="34" charset="0"/>
                <a:ea typeface="Calibri" pitchFamily="34" charset="-122"/>
                <a:cs typeface="Calibri" pitchFamily="34" charset="-120"/>
              </a:rPr>
              <a:t>2 · The number</a:t>
            </a:r>
            <a:endParaRPr lang="en-US" sz="1200" dirty="0"/>
          </a:p>
        </p:txBody>
      </p:sp>
      <p:sp>
        <p:nvSpPr>
          <p:cNvPr id="4" name="Text 2"/>
          <p:cNvSpPr txBox="1"/>
          <p:nvPr/>
        </p:nvSpPr>
        <p:spPr>
          <a:xfrm>
            <a:off x="566928" y="1170432"/>
            <a:ext cx="11055096" cy="658368"/>
          </a:xfrm>
          <a:prstGeom prst="rect">
            <a:avLst/>
          </a:prstGeom>
          <a:noFill/>
          <a:ln/>
        </p:spPr>
        <p:txBody>
          <a:bodyPr wrap="square" lIns="0" tIns="0" rIns="0" bIns="0" rtlCol="0" anchor="ctr"/>
          <a:lstStyle/>
          <a:p>
            <a:pPr indent="0" marL="0">
              <a:lnSpc>
                <a:spcPct val="120000"/>
              </a:lnSpc>
              <a:buNone/>
            </a:pPr>
            <a:r>
              <a:rPr lang="en-US" sz="1500" dirty="0">
                <a:solidFill>
                  <a:srgbClr val="14202B"/>
                </a:solidFill>
                <a:latin typeface="Calibri" pitchFamily="34" charset="0"/>
                <a:ea typeface="Calibri" pitchFamily="34" charset="-122"/>
                <a:cs typeface="Calibri" pitchFamily="34" charset="-120"/>
              </a:rPr>
              <a:t>Human agent cost rose 63% in three weeks. If it stays at this level, that is roughly ₹8–9 lakh a year in extra agent cost. This is an estimate, not a measured figure.</a:t>
            </a:r>
            <a:endParaRPr lang="en-US" sz="1500" dirty="0"/>
          </a:p>
        </p:txBody>
      </p:sp>
      <p:graphicFrame>
        <p:nvGraphicFramePr>
          <p:cNvPr id="5" name="Chart 0" descr=""/>
          <p:cNvGraphicFramePr/>
          <p:nvPr/>
        </p:nvGraphicFramePr>
        <p:xfrm>
          <a:off x="566928" y="2103120"/>
          <a:ext cx="11055096" cy="33832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66928" y="5715000"/>
            <a:ext cx="45720" cy="566928"/>
          </a:xfrm>
          <a:prstGeom prst="rect">
            <a:avLst/>
          </a:prstGeom>
          <a:solidFill>
            <a:srgbClr val="D6402C"/>
          </a:solidFill>
          <a:ln/>
        </p:spPr>
      </p:sp>
      <p:sp>
        <p:nvSpPr>
          <p:cNvPr id="7" name="Text 4"/>
          <p:cNvSpPr txBox="1"/>
          <p:nvPr/>
        </p:nvSpPr>
        <p:spPr>
          <a:xfrm>
            <a:off x="768096" y="5678424"/>
            <a:ext cx="10780776" cy="640080"/>
          </a:xfrm>
          <a:prstGeom prst="rect">
            <a:avLst/>
          </a:prstGeom>
          <a:noFill/>
          <a:ln/>
        </p:spPr>
        <p:txBody>
          <a:bodyPr wrap="square" lIns="0" tIns="0" rIns="0" bIns="0" rtlCol="0" anchor="ctr"/>
          <a:lstStyle/>
          <a:p>
            <a:pPr indent="0" marL="0">
              <a:lnSpc>
                <a:spcPct val="115000"/>
              </a:lnSpc>
              <a:buNone/>
            </a:pPr>
            <a:r>
              <a:rPr lang="en-US" sz="1450" dirty="0">
                <a:solidFill>
                  <a:srgbClr val="14202B"/>
                </a:solidFill>
                <a:latin typeface="Calibri" pitchFamily="34" charset="0"/>
                <a:ea typeface="Calibri" pitchFamily="34" charset="-122"/>
                <a:cs typeface="Calibri" pitchFamily="34" charset="-120"/>
              </a:rPr>
              <a:t>That is a 63% rise, and it keeps growing while the claim lookup stays broken.</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1105509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It is also costing customer trust</a:t>
            </a:r>
            <a:endParaRPr lang="en-US" sz="3200" dirty="0"/>
          </a:p>
        </p:txBody>
      </p:sp>
      <p:sp>
        <p:nvSpPr>
          <p:cNvPr id="3" name="Text 1"/>
          <p:cNvSpPr txBox="1"/>
          <p:nvPr/>
        </p:nvSpPr>
        <p:spPr>
          <a:xfrm>
            <a:off x="566928" y="1170432"/>
            <a:ext cx="11055096" cy="658368"/>
          </a:xfrm>
          <a:prstGeom prst="rect">
            <a:avLst/>
          </a:prstGeom>
          <a:noFill/>
          <a:ln/>
        </p:spPr>
        <p:txBody>
          <a:bodyPr wrap="square" lIns="0" tIns="0" rIns="0" bIns="0" rtlCol="0" anchor="ctr"/>
          <a:lstStyle/>
          <a:p>
            <a:pPr indent="0" marL="0">
              <a:lnSpc>
                <a:spcPct val="120000"/>
              </a:lnSpc>
              <a:buNone/>
            </a:pPr>
            <a:r>
              <a:rPr lang="en-US" sz="1500" dirty="0">
                <a:solidFill>
                  <a:srgbClr val="14202B"/>
                </a:solidFill>
                <a:latin typeface="Calibri" pitchFamily="34" charset="0"/>
                <a:ea typeface="Calibri" pitchFamily="34" charset="-122"/>
                <a:cs typeface="Calibri" pitchFamily="34" charset="-120"/>
              </a:rPr>
              <a:t>Satisfaction on contained calls stayed steady. Only the calls that failed got worse. So this is about one failing path, not a general drop in quality. A falling score on transferred calls is also a sign that customers may leave.</a:t>
            </a:r>
            <a:endParaRPr lang="en-US" sz="1500" dirty="0"/>
          </a:p>
        </p:txBody>
      </p:sp>
      <p:graphicFrame>
        <p:nvGraphicFramePr>
          <p:cNvPr id="4" name="Chart 0" descr=""/>
          <p:cNvGraphicFramePr/>
          <p:nvPr/>
        </p:nvGraphicFramePr>
        <p:xfrm>
          <a:off x="566928" y="2148840"/>
          <a:ext cx="11055096"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 y="5532120"/>
            <a:ext cx="11055096" cy="365760"/>
          </a:xfrm>
          <a:prstGeom prst="rect">
            <a:avLst/>
          </a:prstGeom>
          <a:noFill/>
          <a:ln/>
        </p:spPr>
        <p:txBody>
          <a:bodyPr wrap="square" lIns="0" tIns="0" rIns="0" bIns="0" rtlCol="0" anchor="ctr"/>
          <a:lstStyle/>
          <a:p>
            <a:pPr indent="0" marL="0">
              <a:lnSpc>
                <a:spcPct val="115000"/>
              </a:lnSpc>
              <a:buNone/>
            </a:pPr>
            <a:r>
              <a:rPr lang="en-US" sz="1150" dirty="0">
                <a:solidFill>
                  <a:srgbClr val="7A8A94"/>
                </a:solidFill>
                <a:latin typeface="Calibri" pitchFamily="34" charset="0"/>
                <a:ea typeface="Calibri" pitchFamily="34" charset="-122"/>
                <a:cs typeface="Calibri" pitchFamily="34" charset="-120"/>
              </a:rPr>
              <a:t>There are also two high-priority tickets: queue volume up (27 August), and handle time up with the wait-time SLA missed (4 September). The Head of CS raised it internally on 31 August.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867765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How I got there</a:t>
            </a:r>
            <a:endParaRPr lang="en-US" sz="3200" dirty="0"/>
          </a:p>
        </p:txBody>
      </p:sp>
      <p:sp>
        <p:nvSpPr>
          <p:cNvPr id="3" name="Text 1"/>
          <p:cNvSpPr txBox="1"/>
          <p:nvPr/>
        </p:nvSpPr>
        <p:spPr>
          <a:xfrm>
            <a:off x="9336024" y="502920"/>
            <a:ext cx="2286000" cy="411480"/>
          </a:xfrm>
          <a:prstGeom prst="rect">
            <a:avLst/>
          </a:prstGeom>
          <a:noFill/>
          <a:ln/>
        </p:spPr>
        <p:txBody>
          <a:bodyPr wrap="square" lIns="0" tIns="0" rIns="0" bIns="0" rtlCol="0" anchor="ctr"/>
          <a:lstStyle/>
          <a:p>
            <a:pPr algn="r" indent="0" marL="0">
              <a:buNone/>
            </a:pPr>
            <a:r>
              <a:rPr lang="en-US" sz="1200" dirty="0">
                <a:solidFill>
                  <a:srgbClr val="7A8A94"/>
                </a:solidFill>
                <a:latin typeface="Calibri" pitchFamily="34" charset="0"/>
                <a:ea typeface="Calibri" pitchFamily="34" charset="-122"/>
                <a:cs typeface="Calibri" pitchFamily="34" charset="-120"/>
              </a:rPr>
              <a:t>3 · What I did</a:t>
            </a:r>
            <a:endParaRPr lang="en-US" sz="1200" dirty="0"/>
          </a:p>
        </p:txBody>
      </p:sp>
      <p:sp>
        <p:nvSpPr>
          <p:cNvPr id="4" name="Shape 2"/>
          <p:cNvSpPr/>
          <p:nvPr/>
        </p:nvSpPr>
        <p:spPr>
          <a:xfrm>
            <a:off x="566928" y="1234440"/>
            <a:ext cx="11055096" cy="0"/>
          </a:xfrm>
          <a:prstGeom prst="line">
            <a:avLst/>
          </a:prstGeom>
          <a:noFill/>
          <a:ln w="9525">
            <a:solidFill>
              <a:srgbClr val="C9D2D4"/>
            </a:solidFill>
            <a:prstDash val="solid"/>
          </a:ln>
        </p:spPr>
      </p:sp>
      <p:sp>
        <p:nvSpPr>
          <p:cNvPr id="5" name="Text 3"/>
          <p:cNvSpPr txBox="1"/>
          <p:nvPr/>
        </p:nvSpPr>
        <p:spPr>
          <a:xfrm>
            <a:off x="566928" y="1344168"/>
            <a:ext cx="411480" cy="320040"/>
          </a:xfrm>
          <a:prstGeom prst="rect">
            <a:avLst/>
          </a:prstGeom>
          <a:noFill/>
          <a:ln/>
        </p:spPr>
        <p:txBody>
          <a:bodyPr wrap="square" lIns="0" tIns="0" rIns="0" bIns="0" rtlCol="0" anchor="ctr"/>
          <a:lstStyle/>
          <a:p>
            <a:pPr indent="0" marL="0">
              <a:buNone/>
            </a:pPr>
            <a:r>
              <a:rPr lang="en-US" sz="1600" b="1" dirty="0">
                <a:solidFill>
                  <a:srgbClr val="7A8A94"/>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24128" y="1325880"/>
            <a:ext cx="3291840" cy="32004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Split the data three ways</a:t>
            </a:r>
            <a:endParaRPr lang="en-US" sz="1500" dirty="0"/>
          </a:p>
        </p:txBody>
      </p:sp>
      <p:sp>
        <p:nvSpPr>
          <p:cNvPr id="7" name="Text 5"/>
          <p:cNvSpPr txBox="1"/>
          <p:nvPr/>
        </p:nvSpPr>
        <p:spPr>
          <a:xfrm>
            <a:off x="4453128" y="1307592"/>
            <a:ext cx="7077456" cy="548640"/>
          </a:xfrm>
          <a:prstGeom prst="rect">
            <a:avLst/>
          </a:prstGeom>
          <a:noFill/>
          <a:ln/>
        </p:spPr>
        <p:txBody>
          <a:bodyPr wrap="square" lIns="0" tIns="0" rIns="0" bIns="0" rtlCol="0" anchor="ctr"/>
          <a:lstStyle/>
          <a:p>
            <a:pPr indent="0" marL="0">
              <a:lnSpc>
                <a:spcPct val="115000"/>
              </a:lnSpc>
              <a:buNone/>
            </a:pPr>
            <a:r>
              <a:rPr lang="en-US" sz="1300" dirty="0">
                <a:solidFill>
                  <a:srgbClr val="7A8A94"/>
                </a:solidFill>
                <a:latin typeface="Calibri" pitchFamily="34" charset="0"/>
                <a:ea typeface="Calibri" pitchFamily="34" charset="-122"/>
                <a:cs typeface="Calibri" pitchFamily="34" charset="-120"/>
              </a:rPr>
              <a:t>By week, by agent version, and by intent, instead of reading only the overall number.</a:t>
            </a:r>
            <a:endParaRPr lang="en-US" sz="1300" dirty="0"/>
          </a:p>
        </p:txBody>
      </p:sp>
      <p:sp>
        <p:nvSpPr>
          <p:cNvPr id="8" name="Shape 6"/>
          <p:cNvSpPr/>
          <p:nvPr/>
        </p:nvSpPr>
        <p:spPr>
          <a:xfrm>
            <a:off x="566928" y="2020824"/>
            <a:ext cx="11055096" cy="0"/>
          </a:xfrm>
          <a:prstGeom prst="line">
            <a:avLst/>
          </a:prstGeom>
          <a:noFill/>
          <a:ln w="9525">
            <a:solidFill>
              <a:srgbClr val="C9D2D4"/>
            </a:solidFill>
            <a:prstDash val="solid"/>
          </a:ln>
        </p:spPr>
      </p:sp>
      <p:sp>
        <p:nvSpPr>
          <p:cNvPr id="9" name="Text 7"/>
          <p:cNvSpPr txBox="1"/>
          <p:nvPr/>
        </p:nvSpPr>
        <p:spPr>
          <a:xfrm>
            <a:off x="566928" y="2130552"/>
            <a:ext cx="411480" cy="320040"/>
          </a:xfrm>
          <a:prstGeom prst="rect">
            <a:avLst/>
          </a:prstGeom>
          <a:noFill/>
          <a:ln/>
        </p:spPr>
        <p:txBody>
          <a:bodyPr wrap="square" lIns="0" tIns="0" rIns="0" bIns="0" rtlCol="0" anchor="ctr"/>
          <a:lstStyle/>
          <a:p>
            <a:pPr indent="0" marL="0">
              <a:buNone/>
            </a:pPr>
            <a:r>
              <a:rPr lang="en-US" sz="1600" b="1" dirty="0">
                <a:solidFill>
                  <a:srgbClr val="7A8A94"/>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024128" y="2112264"/>
            <a:ext cx="3291840" cy="32004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Rebuilt their formula</a:t>
            </a:r>
            <a:endParaRPr lang="en-US" sz="1500" dirty="0"/>
          </a:p>
        </p:txBody>
      </p:sp>
      <p:sp>
        <p:nvSpPr>
          <p:cNvPr id="11" name="Text 9"/>
          <p:cNvSpPr txBox="1"/>
          <p:nvPr/>
        </p:nvSpPr>
        <p:spPr>
          <a:xfrm>
            <a:off x="4453128" y="2093976"/>
            <a:ext cx="7077456" cy="548640"/>
          </a:xfrm>
          <a:prstGeom prst="rect">
            <a:avLst/>
          </a:prstGeom>
          <a:noFill/>
          <a:ln/>
        </p:spPr>
        <p:txBody>
          <a:bodyPr wrap="square" lIns="0" tIns="0" rIns="0" bIns="0" rtlCol="0" anchor="ctr"/>
          <a:lstStyle/>
          <a:p>
            <a:pPr indent="0" marL="0">
              <a:lnSpc>
                <a:spcPct val="115000"/>
              </a:lnSpc>
              <a:buNone/>
            </a:pPr>
            <a:r>
              <a:rPr lang="en-US" sz="1300" dirty="0">
                <a:solidFill>
                  <a:srgbClr val="7A8A94"/>
                </a:solidFill>
                <a:latin typeface="Calibri" pitchFamily="34" charset="0"/>
                <a:ea typeface="Calibri" pitchFamily="34" charset="-122"/>
                <a:cs typeface="Calibri" pitchFamily="34" charset="-120"/>
              </a:rPr>
              <a:t>I recalculated containment from the raw calls to confirm how Kestrel counts it. Abandoned calls are left out.</a:t>
            </a:r>
            <a:endParaRPr lang="en-US" sz="1300" dirty="0"/>
          </a:p>
        </p:txBody>
      </p:sp>
      <p:sp>
        <p:nvSpPr>
          <p:cNvPr id="12" name="Shape 10"/>
          <p:cNvSpPr/>
          <p:nvPr/>
        </p:nvSpPr>
        <p:spPr>
          <a:xfrm>
            <a:off x="566928" y="2807208"/>
            <a:ext cx="11055096" cy="0"/>
          </a:xfrm>
          <a:prstGeom prst="line">
            <a:avLst/>
          </a:prstGeom>
          <a:noFill/>
          <a:ln w="9525">
            <a:solidFill>
              <a:srgbClr val="C9D2D4"/>
            </a:solidFill>
            <a:prstDash val="solid"/>
          </a:ln>
        </p:spPr>
      </p:sp>
      <p:sp>
        <p:nvSpPr>
          <p:cNvPr id="13" name="Text 11"/>
          <p:cNvSpPr txBox="1"/>
          <p:nvPr/>
        </p:nvSpPr>
        <p:spPr>
          <a:xfrm>
            <a:off x="566928" y="2916936"/>
            <a:ext cx="411480" cy="320040"/>
          </a:xfrm>
          <a:prstGeom prst="rect">
            <a:avLst/>
          </a:prstGeom>
          <a:noFill/>
          <a:ln/>
        </p:spPr>
        <p:txBody>
          <a:bodyPr wrap="square" lIns="0" tIns="0" rIns="0" bIns="0" rtlCol="0" anchor="ctr"/>
          <a:lstStyle/>
          <a:p>
            <a:pPr indent="0" marL="0">
              <a:buNone/>
            </a:pPr>
            <a:r>
              <a:rPr lang="en-US" sz="1600" b="1" dirty="0">
                <a:solidFill>
                  <a:srgbClr val="7A8A94"/>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024128" y="2898648"/>
            <a:ext cx="3291840" cy="32004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Ruled out four causes</a:t>
            </a:r>
            <a:endParaRPr lang="en-US" sz="1500" dirty="0"/>
          </a:p>
        </p:txBody>
      </p:sp>
      <p:sp>
        <p:nvSpPr>
          <p:cNvPr id="15" name="Text 13"/>
          <p:cNvSpPr txBox="1"/>
          <p:nvPr/>
        </p:nvSpPr>
        <p:spPr>
          <a:xfrm>
            <a:off x="4453128" y="2880360"/>
            <a:ext cx="7077456" cy="548640"/>
          </a:xfrm>
          <a:prstGeom prst="rect">
            <a:avLst/>
          </a:prstGeom>
          <a:noFill/>
          <a:ln/>
        </p:spPr>
        <p:txBody>
          <a:bodyPr wrap="square" lIns="0" tIns="0" rIns="0" bIns="0" rtlCol="0" anchor="ctr"/>
          <a:lstStyle/>
          <a:p>
            <a:pPr indent="0" marL="0">
              <a:lnSpc>
                <a:spcPct val="115000"/>
              </a:lnSpc>
              <a:buNone/>
            </a:pPr>
            <a:r>
              <a:rPr lang="en-US" sz="1300" dirty="0">
                <a:solidFill>
                  <a:srgbClr val="7A8A94"/>
                </a:solidFill>
                <a:latin typeface="Calibri" pitchFamily="34" charset="0"/>
                <a:ea typeface="Calibri" pitchFamily="34" charset="-122"/>
                <a:cs typeface="Calibri" pitchFamily="34" charset="-120"/>
              </a:rPr>
              <a:t>Speech recognition, tool failures, language, and call length. Each one was checked against the data.</a:t>
            </a:r>
            <a:endParaRPr lang="en-US" sz="1300" dirty="0"/>
          </a:p>
        </p:txBody>
      </p:sp>
      <p:sp>
        <p:nvSpPr>
          <p:cNvPr id="16" name="Shape 14"/>
          <p:cNvSpPr/>
          <p:nvPr/>
        </p:nvSpPr>
        <p:spPr>
          <a:xfrm>
            <a:off x="566928" y="3593592"/>
            <a:ext cx="11055096" cy="0"/>
          </a:xfrm>
          <a:prstGeom prst="line">
            <a:avLst/>
          </a:prstGeom>
          <a:noFill/>
          <a:ln w="9525">
            <a:solidFill>
              <a:srgbClr val="C9D2D4"/>
            </a:solidFill>
            <a:prstDash val="solid"/>
          </a:ln>
        </p:spPr>
      </p:sp>
      <p:sp>
        <p:nvSpPr>
          <p:cNvPr id="17" name="Text 15"/>
          <p:cNvSpPr txBox="1"/>
          <p:nvPr/>
        </p:nvSpPr>
        <p:spPr>
          <a:xfrm>
            <a:off x="566928" y="3703320"/>
            <a:ext cx="411480" cy="320040"/>
          </a:xfrm>
          <a:prstGeom prst="rect">
            <a:avLst/>
          </a:prstGeom>
          <a:noFill/>
          <a:ln/>
        </p:spPr>
        <p:txBody>
          <a:bodyPr wrap="square" lIns="0" tIns="0" rIns="0" bIns="0" rtlCol="0" anchor="ctr"/>
          <a:lstStyle/>
          <a:p>
            <a:pPr indent="0" marL="0">
              <a:buNone/>
            </a:pPr>
            <a:r>
              <a:rPr lang="en-US" sz="1600" b="1" dirty="0">
                <a:solidFill>
                  <a:srgbClr val="7A8A94"/>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024128" y="3685032"/>
            <a:ext cx="3291840" cy="32004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Found the mechanism</a:t>
            </a:r>
            <a:endParaRPr lang="en-US" sz="1500" dirty="0"/>
          </a:p>
        </p:txBody>
      </p:sp>
      <p:sp>
        <p:nvSpPr>
          <p:cNvPr id="19" name="Text 17"/>
          <p:cNvSpPr txBox="1"/>
          <p:nvPr/>
        </p:nvSpPr>
        <p:spPr>
          <a:xfrm>
            <a:off x="4453128" y="3666744"/>
            <a:ext cx="7077456" cy="548640"/>
          </a:xfrm>
          <a:prstGeom prst="rect">
            <a:avLst/>
          </a:prstGeom>
          <a:noFill/>
          <a:ln/>
        </p:spPr>
        <p:txBody>
          <a:bodyPr wrap="square" lIns="0" tIns="0" rIns="0" bIns="0" rtlCol="0" anchor="ctr"/>
          <a:lstStyle/>
          <a:p>
            <a:pPr indent="0" marL="0">
              <a:lnSpc>
                <a:spcPct val="115000"/>
              </a:lnSpc>
              <a:buNone/>
            </a:pPr>
            <a:r>
              <a:rPr lang="en-US" sz="1300" dirty="0">
                <a:solidFill>
                  <a:srgbClr val="7A8A94"/>
                </a:solidFill>
                <a:latin typeface="Calibri" pitchFamily="34" charset="0"/>
                <a:ea typeface="Calibri" pitchFamily="34" charset="-122"/>
                <a:cs typeface="Calibri" pitchFamily="34" charset="-120"/>
              </a:rPr>
              <a:t>I compared reply time by intent, not by version. That pointed clearly at claim_status.</a:t>
            </a:r>
            <a:endParaRPr lang="en-US" sz="1300" dirty="0"/>
          </a:p>
        </p:txBody>
      </p:sp>
      <p:sp>
        <p:nvSpPr>
          <p:cNvPr id="20" name="Shape 18"/>
          <p:cNvSpPr/>
          <p:nvPr/>
        </p:nvSpPr>
        <p:spPr>
          <a:xfrm>
            <a:off x="566928" y="4379976"/>
            <a:ext cx="11055096" cy="0"/>
          </a:xfrm>
          <a:prstGeom prst="line">
            <a:avLst/>
          </a:prstGeom>
          <a:noFill/>
          <a:ln w="9525">
            <a:solidFill>
              <a:srgbClr val="C9D2D4"/>
            </a:solidFill>
            <a:prstDash val="solid"/>
          </a:ln>
        </p:spPr>
      </p:sp>
      <p:sp>
        <p:nvSpPr>
          <p:cNvPr id="21" name="Text 19"/>
          <p:cNvSpPr txBox="1"/>
          <p:nvPr/>
        </p:nvSpPr>
        <p:spPr>
          <a:xfrm>
            <a:off x="566928" y="4489704"/>
            <a:ext cx="411480" cy="320040"/>
          </a:xfrm>
          <a:prstGeom prst="rect">
            <a:avLst/>
          </a:prstGeom>
          <a:noFill/>
          <a:ln/>
        </p:spPr>
        <p:txBody>
          <a:bodyPr wrap="square" lIns="0" tIns="0" rIns="0" bIns="0" rtlCol="0" anchor="ctr"/>
          <a:lstStyle/>
          <a:p>
            <a:pPr indent="0" marL="0">
              <a:buNone/>
            </a:pPr>
            <a:r>
              <a:rPr lang="en-US" sz="1600" b="1" dirty="0">
                <a:solidFill>
                  <a:srgbClr val="7A8A94"/>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024128" y="4471416"/>
            <a:ext cx="3291840" cy="32004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Went to daily data</a:t>
            </a:r>
            <a:endParaRPr lang="en-US" sz="1500" dirty="0"/>
          </a:p>
        </p:txBody>
      </p:sp>
      <p:sp>
        <p:nvSpPr>
          <p:cNvPr id="23" name="Text 21"/>
          <p:cNvSpPr txBox="1"/>
          <p:nvPr/>
        </p:nvSpPr>
        <p:spPr>
          <a:xfrm>
            <a:off x="4453128" y="4453128"/>
            <a:ext cx="7077456" cy="548640"/>
          </a:xfrm>
          <a:prstGeom prst="rect">
            <a:avLst/>
          </a:prstGeom>
          <a:noFill/>
          <a:ln/>
        </p:spPr>
        <p:txBody>
          <a:bodyPr wrap="square" lIns="0" tIns="0" rIns="0" bIns="0" rtlCol="0" anchor="ctr"/>
          <a:lstStyle/>
          <a:p>
            <a:pPr indent="0" marL="0">
              <a:lnSpc>
                <a:spcPct val="115000"/>
              </a:lnSpc>
              <a:buNone/>
            </a:pPr>
            <a:r>
              <a:rPr lang="en-US" sz="1300" dirty="0">
                <a:solidFill>
                  <a:srgbClr val="7A8A94"/>
                </a:solidFill>
                <a:latin typeface="Calibri" pitchFamily="34" charset="0"/>
                <a:ea typeface="Calibri" pitchFamily="34" charset="-122"/>
                <a:cs typeface="Calibri" pitchFamily="34" charset="-120"/>
              </a:rPr>
              <a:t>Weekly data hid the start date. Daily data placed it on 25 August.</a:t>
            </a:r>
            <a:endParaRPr lang="en-US" sz="1300" dirty="0"/>
          </a:p>
        </p:txBody>
      </p:sp>
      <p:sp>
        <p:nvSpPr>
          <p:cNvPr id="24" name="Shape 22"/>
          <p:cNvSpPr/>
          <p:nvPr/>
        </p:nvSpPr>
        <p:spPr>
          <a:xfrm>
            <a:off x="566928" y="5669280"/>
            <a:ext cx="45720" cy="566928"/>
          </a:xfrm>
          <a:prstGeom prst="rect">
            <a:avLst/>
          </a:prstGeom>
          <a:solidFill>
            <a:srgbClr val="D6402C"/>
          </a:solidFill>
          <a:ln/>
        </p:spPr>
      </p:sp>
      <p:sp>
        <p:nvSpPr>
          <p:cNvPr id="25" name="Text 23"/>
          <p:cNvSpPr txBox="1"/>
          <p:nvPr/>
        </p:nvSpPr>
        <p:spPr>
          <a:xfrm>
            <a:off x="768096" y="5632704"/>
            <a:ext cx="10780776" cy="640080"/>
          </a:xfrm>
          <a:prstGeom prst="rect">
            <a:avLst/>
          </a:prstGeom>
          <a:noFill/>
          <a:ln/>
        </p:spPr>
        <p:txBody>
          <a:bodyPr wrap="square" lIns="0" tIns="0" rIns="0" bIns="0" rtlCol="0" anchor="ctr"/>
          <a:lstStyle/>
          <a:p>
            <a:pPr indent="0" marL="0">
              <a:lnSpc>
                <a:spcPct val="115000"/>
              </a:lnSpc>
              <a:buNone/>
            </a:pPr>
            <a:r>
              <a:rPr lang="en-US" sz="1450" dirty="0">
                <a:solidFill>
                  <a:srgbClr val="14202B"/>
                </a:solidFill>
                <a:latin typeface="Calibri" pitchFamily="34" charset="0"/>
                <a:ea typeface="Calibri" pitchFamily="34" charset="-122"/>
                <a:cs typeface="Calibri" pitchFamily="34" charset="-120"/>
              </a:rPr>
              <a:t>My first guess was our own 28 August release. The daily data showed that was wrong, so I corrected it before writing this up.</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867765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What I would tell Kestrel</a:t>
            </a:r>
            <a:endParaRPr lang="en-US" sz="3200" dirty="0"/>
          </a:p>
        </p:txBody>
      </p:sp>
      <p:sp>
        <p:nvSpPr>
          <p:cNvPr id="3" name="Text 1"/>
          <p:cNvSpPr txBox="1"/>
          <p:nvPr/>
        </p:nvSpPr>
        <p:spPr>
          <a:xfrm>
            <a:off x="9336024" y="502920"/>
            <a:ext cx="2286000" cy="411480"/>
          </a:xfrm>
          <a:prstGeom prst="rect">
            <a:avLst/>
          </a:prstGeom>
          <a:noFill/>
          <a:ln/>
        </p:spPr>
        <p:txBody>
          <a:bodyPr wrap="square" lIns="0" tIns="0" rIns="0" bIns="0" rtlCol="0" anchor="ctr"/>
          <a:lstStyle/>
          <a:p>
            <a:pPr algn="r" indent="0" marL="0">
              <a:buNone/>
            </a:pPr>
            <a:r>
              <a:rPr lang="en-US" sz="1200" dirty="0">
                <a:solidFill>
                  <a:srgbClr val="7A8A94"/>
                </a:solidFill>
                <a:latin typeface="Calibri" pitchFamily="34" charset="0"/>
                <a:ea typeface="Calibri" pitchFamily="34" charset="-122"/>
                <a:cs typeface="Calibri" pitchFamily="34" charset="-120"/>
              </a:rPr>
              <a:t>4 · The plan</a:t>
            </a:r>
            <a:endParaRPr lang="en-US" sz="1200" dirty="0"/>
          </a:p>
        </p:txBody>
      </p:sp>
      <p:sp>
        <p:nvSpPr>
          <p:cNvPr id="4" name="Shape 2"/>
          <p:cNvSpPr/>
          <p:nvPr/>
        </p:nvSpPr>
        <p:spPr>
          <a:xfrm>
            <a:off x="566928" y="1371600"/>
            <a:ext cx="3566160" cy="3429000"/>
          </a:xfrm>
          <a:prstGeom prst="rect">
            <a:avLst/>
          </a:prstGeom>
          <a:solidFill>
            <a:srgbClr val="FFFFFF"/>
          </a:solidFill>
          <a:ln w="19050">
            <a:solidFill>
              <a:srgbClr val="D6402C"/>
            </a:solidFill>
            <a:prstDash val="solid"/>
          </a:ln>
        </p:spPr>
      </p:sp>
      <p:sp>
        <p:nvSpPr>
          <p:cNvPr id="5" name="Text 3"/>
          <p:cNvSpPr txBox="1"/>
          <p:nvPr/>
        </p:nvSpPr>
        <p:spPr>
          <a:xfrm>
            <a:off x="822960" y="1572768"/>
            <a:ext cx="3054096" cy="329184"/>
          </a:xfrm>
          <a:prstGeom prst="rect">
            <a:avLst/>
          </a:prstGeom>
          <a:noFill/>
          <a:ln/>
        </p:spPr>
        <p:txBody>
          <a:bodyPr wrap="square" lIns="0" tIns="0" rIns="0" bIns="0" rtlCol="0" anchor="ctr"/>
          <a:lstStyle/>
          <a:p>
            <a:pPr indent="0" marL="0">
              <a:buNone/>
            </a:pPr>
            <a:r>
              <a:rPr lang="en-US" sz="1600" b="1" dirty="0">
                <a:solidFill>
                  <a:srgbClr val="D6402C"/>
                </a:solidFill>
                <a:latin typeface="Calibri" pitchFamily="34" charset="0"/>
                <a:ea typeface="Calibri" pitchFamily="34" charset="-122"/>
                <a:cs typeface="Calibri" pitchFamily="34" charset="-120"/>
              </a:rPr>
              <a:t>Today</a:t>
            </a:r>
            <a:endParaRPr lang="en-US" sz="1600" dirty="0"/>
          </a:p>
        </p:txBody>
      </p:sp>
      <p:sp>
        <p:nvSpPr>
          <p:cNvPr id="6" name="Text 4"/>
          <p:cNvSpPr txBox="1"/>
          <p:nvPr/>
        </p:nvSpPr>
        <p:spPr>
          <a:xfrm>
            <a:off x="822960" y="1993392"/>
            <a:ext cx="3054096" cy="265176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200" dirty="0">
                <a:solidFill>
                  <a:srgbClr val="14202B"/>
                </a:solidFill>
                <a:latin typeface="Calibri" pitchFamily="34" charset="0"/>
                <a:ea typeface="Calibri" pitchFamily="34" charset="-122"/>
                <a:cs typeface="Calibri" pitchFamily="34" charset="-120"/>
              </a:rPr>
              <a:t>Roll back the 28 August prompt change. It is low risk, easy to undo, and removes one live cause of the delay.</a:t>
            </a:r>
            <a:endParaRPr lang="en-US" sz="1200" dirty="0"/>
          </a:p>
          <a:p>
            <a:pPr marL="342900" indent="-342900">
              <a:lnSpc>
                <a:spcPct val="115000"/>
              </a:lnSpc>
              <a:spcAft>
                <a:spcPts val="900"/>
              </a:spcAft>
              <a:buSzPct val="100000"/>
              <a:buChar char="•"/>
            </a:pPr>
            <a:r>
              <a:rPr lang="en-US" sz="1200" dirty="0">
                <a:solidFill>
                  <a:srgbClr val="14202B"/>
                </a:solidFill>
                <a:latin typeface="Calibri" pitchFamily="34" charset="0"/>
                <a:ea typeface="Calibri" pitchFamily="34" charset="-122"/>
                <a:cs typeface="Calibri" pitchFamily="34" charset="-120"/>
              </a:rPr>
              <a:t>Send an update to the Head of CS today, not at the review meeting. They raised this on 31 August and are still waiting.</a:t>
            </a:r>
            <a:endParaRPr lang="en-US" sz="1200" dirty="0"/>
          </a:p>
          <a:p>
            <a:pPr marL="342900" indent="-342900">
              <a:lnSpc>
                <a:spcPct val="115000"/>
              </a:lnSpc>
              <a:spcAft>
                <a:spcPts val="900"/>
              </a:spcAft>
              <a:buSzPct val="100000"/>
              <a:buChar char="•"/>
            </a:pPr>
            <a:r>
              <a:rPr lang="en-US" sz="1200" dirty="0">
                <a:solidFill>
                  <a:srgbClr val="14202B"/>
                </a:solidFill>
                <a:latin typeface="Calibri" pitchFamily="34" charset="0"/>
                <a:ea typeface="Calibri" pitchFamily="34" charset="-122"/>
                <a:cs typeface="Calibri" pitchFamily="34" charset="-120"/>
              </a:rPr>
              <a:t>Say clearly that this will reduce the problem but will not fully solve it.</a:t>
            </a:r>
            <a:endParaRPr lang="en-US" sz="1200" dirty="0"/>
          </a:p>
        </p:txBody>
      </p:sp>
      <p:sp>
        <p:nvSpPr>
          <p:cNvPr id="7" name="Shape 5"/>
          <p:cNvSpPr/>
          <p:nvPr/>
        </p:nvSpPr>
        <p:spPr>
          <a:xfrm>
            <a:off x="4462272" y="1371600"/>
            <a:ext cx="3566160" cy="3429000"/>
          </a:xfrm>
          <a:prstGeom prst="rect">
            <a:avLst/>
          </a:prstGeom>
          <a:solidFill>
            <a:srgbClr val="FFFFFF"/>
          </a:solidFill>
          <a:ln w="9525">
            <a:solidFill>
              <a:srgbClr val="C9D2D4"/>
            </a:solidFill>
            <a:prstDash val="solid"/>
          </a:ln>
        </p:spPr>
      </p:sp>
      <p:sp>
        <p:nvSpPr>
          <p:cNvPr id="8" name="Text 6"/>
          <p:cNvSpPr txBox="1"/>
          <p:nvPr/>
        </p:nvSpPr>
        <p:spPr>
          <a:xfrm>
            <a:off x="4718304" y="1572768"/>
            <a:ext cx="3054096" cy="329184"/>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This week</a:t>
            </a:r>
            <a:endParaRPr lang="en-US" sz="1600" dirty="0"/>
          </a:p>
        </p:txBody>
      </p:sp>
      <p:sp>
        <p:nvSpPr>
          <p:cNvPr id="9" name="Text 7"/>
          <p:cNvSpPr txBox="1"/>
          <p:nvPr/>
        </p:nvSpPr>
        <p:spPr>
          <a:xfrm>
            <a:off x="4718304" y="1993392"/>
            <a:ext cx="3054096" cy="265176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200" dirty="0">
                <a:solidFill>
                  <a:srgbClr val="14202B"/>
                </a:solidFill>
                <a:latin typeface="Calibri" pitchFamily="34" charset="0"/>
                <a:ea typeface="Calibri" pitchFamily="34" charset="-122"/>
                <a:cs typeface="Calibri" pitchFamily="34" charset="-120"/>
              </a:rPr>
              <a:t>Work with Kestrel IT, not only Ops, to update the claim lookup for the new TPA format. We need their format document to do it.</a:t>
            </a:r>
            <a:endParaRPr lang="en-US" sz="1200" dirty="0"/>
          </a:p>
          <a:p>
            <a:pPr marL="342900" indent="-342900">
              <a:lnSpc>
                <a:spcPct val="115000"/>
              </a:lnSpc>
              <a:spcAft>
                <a:spcPts val="900"/>
              </a:spcAft>
              <a:buSzPct val="100000"/>
              <a:buChar char="•"/>
            </a:pPr>
            <a:r>
              <a:rPr lang="en-US" sz="1200" dirty="0">
                <a:solidFill>
                  <a:srgbClr val="14202B"/>
                </a:solidFill>
                <a:latin typeface="Calibri" pitchFamily="34" charset="0"/>
                <a:ea typeface="Calibri" pitchFamily="34" charset="-122"/>
                <a:cs typeface="Calibri" pitchFamily="34" charset="-120"/>
              </a:rPr>
              <a:t>Add a short-term fallback: if a lookup fails on the new format, transfer the call straight away with a clear reason code instead of trying again.</a:t>
            </a:r>
            <a:endParaRPr lang="en-US" sz="1200" dirty="0"/>
          </a:p>
        </p:txBody>
      </p:sp>
      <p:sp>
        <p:nvSpPr>
          <p:cNvPr id="10" name="Shape 8"/>
          <p:cNvSpPr/>
          <p:nvPr/>
        </p:nvSpPr>
        <p:spPr>
          <a:xfrm>
            <a:off x="8357616" y="1371600"/>
            <a:ext cx="3566160" cy="3429000"/>
          </a:xfrm>
          <a:prstGeom prst="rect">
            <a:avLst/>
          </a:prstGeom>
          <a:solidFill>
            <a:srgbClr val="FFFFFF"/>
          </a:solidFill>
          <a:ln w="9525">
            <a:solidFill>
              <a:srgbClr val="C9D2D4"/>
            </a:solidFill>
            <a:prstDash val="solid"/>
          </a:ln>
        </p:spPr>
      </p:sp>
      <p:sp>
        <p:nvSpPr>
          <p:cNvPr id="11" name="Text 9"/>
          <p:cNvSpPr txBox="1"/>
          <p:nvPr/>
        </p:nvSpPr>
        <p:spPr>
          <a:xfrm>
            <a:off x="8613648" y="1572768"/>
            <a:ext cx="3054096" cy="329184"/>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So it does not repeat</a:t>
            </a:r>
            <a:endParaRPr lang="en-US" sz="1600" dirty="0"/>
          </a:p>
        </p:txBody>
      </p:sp>
      <p:sp>
        <p:nvSpPr>
          <p:cNvPr id="12" name="Text 10"/>
          <p:cNvSpPr txBox="1"/>
          <p:nvPr/>
        </p:nvSpPr>
        <p:spPr>
          <a:xfrm>
            <a:off x="8613648" y="1993392"/>
            <a:ext cx="3054096" cy="265176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200" dirty="0">
                <a:solidFill>
                  <a:srgbClr val="14202B"/>
                </a:solidFill>
                <a:latin typeface="Calibri" pitchFamily="34" charset="0"/>
                <a:ea typeface="Calibri" pitchFamily="34" charset="-122"/>
                <a:cs typeface="Calibri" pitchFamily="34" charset="-120"/>
              </a:rPr>
              <a:t>Agree that Kestrel IT tells us before any backend change that affects the data the agent reads.</a:t>
            </a:r>
            <a:endParaRPr lang="en-US" sz="1200" dirty="0"/>
          </a:p>
          <a:p>
            <a:pPr marL="342900" indent="-342900">
              <a:lnSpc>
                <a:spcPct val="115000"/>
              </a:lnSpc>
              <a:spcAft>
                <a:spcPts val="900"/>
              </a:spcAft>
              <a:buSzPct val="100000"/>
              <a:buChar char="•"/>
            </a:pPr>
            <a:r>
              <a:rPr lang="en-US" sz="1200" dirty="0">
                <a:solidFill>
                  <a:srgbClr val="14202B"/>
                </a:solidFill>
                <a:latin typeface="Calibri" pitchFamily="34" charset="0"/>
                <a:ea typeface="Calibri" pitchFamily="34" charset="-122"/>
                <a:cs typeface="Calibri" pitchFamily="34" charset="-120"/>
              </a:rPr>
              <a:t>Add reply-time monitoring per intent, with alerts. This took three weeks to notice, although the data was there from day one.</a:t>
            </a:r>
            <a:endParaRPr lang="en-US" sz="1200" dirty="0"/>
          </a:p>
        </p:txBody>
      </p:sp>
      <p:sp>
        <p:nvSpPr>
          <p:cNvPr id="13" name="Shape 11"/>
          <p:cNvSpPr/>
          <p:nvPr/>
        </p:nvSpPr>
        <p:spPr>
          <a:xfrm>
            <a:off x="566928" y="5212080"/>
            <a:ext cx="45720" cy="566928"/>
          </a:xfrm>
          <a:prstGeom prst="rect">
            <a:avLst/>
          </a:prstGeom>
          <a:solidFill>
            <a:srgbClr val="D6402C"/>
          </a:solidFill>
          <a:ln/>
        </p:spPr>
      </p:sp>
      <p:sp>
        <p:nvSpPr>
          <p:cNvPr id="14" name="Text 12"/>
          <p:cNvSpPr txBox="1"/>
          <p:nvPr/>
        </p:nvSpPr>
        <p:spPr>
          <a:xfrm>
            <a:off x="768096" y="5175504"/>
            <a:ext cx="10780776" cy="640080"/>
          </a:xfrm>
          <a:prstGeom prst="rect">
            <a:avLst/>
          </a:prstGeom>
          <a:noFill/>
          <a:ln/>
        </p:spPr>
        <p:txBody>
          <a:bodyPr wrap="square" lIns="0" tIns="0" rIns="0" bIns="0" rtlCol="0" anchor="ctr"/>
          <a:lstStyle/>
          <a:p>
            <a:pPr indent="0" marL="0">
              <a:lnSpc>
                <a:spcPct val="115000"/>
              </a:lnSpc>
              <a:buNone/>
            </a:pPr>
            <a:r>
              <a:rPr lang="en-US" sz="1450" dirty="0">
                <a:solidFill>
                  <a:srgbClr val="14202B"/>
                </a:solidFill>
                <a:latin typeface="Calibri" pitchFamily="34" charset="0"/>
                <a:ea typeface="Calibri" pitchFamily="34" charset="-122"/>
                <a:cs typeface="Calibri" pitchFamily="34" charset="-120"/>
              </a:rPr>
              <a:t>What I would not suggest: retraining the model or rebuilding the prompt stack. That would treat a data format issue as a model quality issue, and it would cost far more time.</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1105509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Set the expectation now</a:t>
            </a:r>
            <a:endParaRPr lang="en-US" sz="3200" dirty="0"/>
          </a:p>
        </p:txBody>
      </p:sp>
      <p:sp>
        <p:nvSpPr>
          <p:cNvPr id="3" name="Shape 1"/>
          <p:cNvSpPr/>
          <p:nvPr/>
        </p:nvSpPr>
        <p:spPr>
          <a:xfrm>
            <a:off x="566928" y="1965960"/>
            <a:ext cx="3566160" cy="50292"/>
          </a:xfrm>
          <a:prstGeom prst="rect">
            <a:avLst/>
          </a:prstGeom>
          <a:solidFill>
            <a:srgbClr val="C9D2D4"/>
          </a:solidFill>
          <a:ln/>
        </p:spPr>
      </p:sp>
      <p:sp>
        <p:nvSpPr>
          <p:cNvPr id="4" name="Text 2"/>
          <p:cNvSpPr txBox="1"/>
          <p:nvPr/>
        </p:nvSpPr>
        <p:spPr>
          <a:xfrm>
            <a:off x="566928" y="2194560"/>
            <a:ext cx="3566160" cy="777240"/>
          </a:xfrm>
          <a:prstGeom prst="rect">
            <a:avLst/>
          </a:prstGeom>
          <a:noFill/>
          <a:ln/>
        </p:spPr>
        <p:txBody>
          <a:bodyPr wrap="square" lIns="0" tIns="0" rIns="0" bIns="0" rtlCol="0" anchor="ctr"/>
          <a:lstStyle/>
          <a:p>
            <a:pPr indent="0" marL="0">
              <a:buNone/>
            </a:pPr>
            <a:r>
              <a:rPr lang="en-US" sz="3400" b="1" dirty="0">
                <a:solidFill>
                  <a:srgbClr val="14202B"/>
                </a:solidFill>
                <a:latin typeface="Calibri" pitchFamily="34" charset="0"/>
                <a:ea typeface="Calibri" pitchFamily="34" charset="-122"/>
                <a:cs typeface="Calibri" pitchFamily="34" charset="-120"/>
              </a:rPr>
              <a:t>~450 ms</a:t>
            </a:r>
            <a:endParaRPr lang="en-US" sz="3400" dirty="0"/>
          </a:p>
        </p:txBody>
      </p:sp>
      <p:sp>
        <p:nvSpPr>
          <p:cNvPr id="5" name="Text 3"/>
          <p:cNvSpPr txBox="1"/>
          <p:nvPr/>
        </p:nvSpPr>
        <p:spPr>
          <a:xfrm>
            <a:off x="566928" y="3063240"/>
            <a:ext cx="3566160" cy="914400"/>
          </a:xfrm>
          <a:prstGeom prst="rect">
            <a:avLst/>
          </a:prstGeom>
          <a:noFill/>
          <a:ln/>
        </p:spPr>
        <p:txBody>
          <a:bodyPr wrap="square" lIns="0" tIns="0" rIns="0" bIns="0" rtlCol="0" anchor="ctr"/>
          <a:lstStyle/>
          <a:p>
            <a:pPr indent="0" marL="0">
              <a:lnSpc>
                <a:spcPct val="120000"/>
              </a:lnSpc>
              <a:buNone/>
            </a:pPr>
            <a:r>
              <a:rPr lang="en-US" sz="1300" dirty="0">
                <a:solidFill>
                  <a:srgbClr val="7A8A94"/>
                </a:solidFill>
                <a:latin typeface="Calibri" pitchFamily="34" charset="0"/>
                <a:ea typeface="Calibri" pitchFamily="34" charset="-122"/>
                <a:cs typeface="Calibri" pitchFamily="34" charset="-120"/>
              </a:rPr>
              <a:t>Where it sat before 25 August, before the migration began.</a:t>
            </a:r>
            <a:endParaRPr lang="en-US" sz="1300" dirty="0"/>
          </a:p>
        </p:txBody>
      </p:sp>
      <p:sp>
        <p:nvSpPr>
          <p:cNvPr id="6" name="Shape 4"/>
          <p:cNvSpPr/>
          <p:nvPr/>
        </p:nvSpPr>
        <p:spPr>
          <a:xfrm>
            <a:off x="4462272" y="1965960"/>
            <a:ext cx="3566160" cy="50292"/>
          </a:xfrm>
          <a:prstGeom prst="rect">
            <a:avLst/>
          </a:prstGeom>
          <a:solidFill>
            <a:srgbClr val="D6402C"/>
          </a:solidFill>
          <a:ln/>
        </p:spPr>
      </p:sp>
      <p:sp>
        <p:nvSpPr>
          <p:cNvPr id="7" name="Text 5"/>
          <p:cNvSpPr txBox="1"/>
          <p:nvPr/>
        </p:nvSpPr>
        <p:spPr>
          <a:xfrm>
            <a:off x="4462272" y="2194560"/>
            <a:ext cx="3566160" cy="777240"/>
          </a:xfrm>
          <a:prstGeom prst="rect">
            <a:avLst/>
          </a:prstGeom>
          <a:noFill/>
          <a:ln/>
        </p:spPr>
        <p:txBody>
          <a:bodyPr wrap="square" lIns="0" tIns="0" rIns="0" bIns="0" rtlCol="0" anchor="ctr"/>
          <a:lstStyle/>
          <a:p>
            <a:pPr indent="0" marL="0">
              <a:buNone/>
            </a:pPr>
            <a:r>
              <a:rPr lang="en-US" sz="3400" b="1" dirty="0">
                <a:solidFill>
                  <a:srgbClr val="D6402C"/>
                </a:solidFill>
                <a:latin typeface="Calibri" pitchFamily="34" charset="0"/>
                <a:ea typeface="Calibri" pitchFamily="34" charset="-122"/>
                <a:cs typeface="Calibri" pitchFamily="34" charset="-120"/>
              </a:rPr>
              <a:t>550–650 ms</a:t>
            </a:r>
            <a:endParaRPr lang="en-US" sz="3400" dirty="0"/>
          </a:p>
        </p:txBody>
      </p:sp>
      <p:sp>
        <p:nvSpPr>
          <p:cNvPr id="8" name="Text 6"/>
          <p:cNvSpPr txBox="1"/>
          <p:nvPr/>
        </p:nvSpPr>
        <p:spPr>
          <a:xfrm>
            <a:off x="4462272" y="3063240"/>
            <a:ext cx="3566160" cy="914400"/>
          </a:xfrm>
          <a:prstGeom prst="rect">
            <a:avLst/>
          </a:prstGeom>
          <a:noFill/>
          <a:ln/>
        </p:spPr>
        <p:txBody>
          <a:bodyPr wrap="square" lIns="0" tIns="0" rIns="0" bIns="0" rtlCol="0" anchor="ctr"/>
          <a:lstStyle/>
          <a:p>
            <a:pPr indent="0" marL="0">
              <a:lnSpc>
                <a:spcPct val="120000"/>
              </a:lnSpc>
              <a:buNone/>
            </a:pPr>
            <a:r>
              <a:rPr lang="en-US" sz="1300" dirty="0">
                <a:solidFill>
                  <a:srgbClr val="7A8A94"/>
                </a:solidFill>
                <a:latin typeface="Calibri" pitchFamily="34" charset="0"/>
                <a:ea typeface="Calibri" pitchFamily="34" charset="-122"/>
                <a:cs typeface="Calibri" pitchFamily="34" charset="-120"/>
              </a:rPr>
              <a:t>What to expect after the rollback alone. The format mismatch is still there.</a:t>
            </a:r>
            <a:endParaRPr lang="en-US" sz="1300" dirty="0"/>
          </a:p>
        </p:txBody>
      </p:sp>
      <p:sp>
        <p:nvSpPr>
          <p:cNvPr id="9" name="Shape 7"/>
          <p:cNvSpPr/>
          <p:nvPr/>
        </p:nvSpPr>
        <p:spPr>
          <a:xfrm>
            <a:off x="8357616" y="1965960"/>
            <a:ext cx="3566160" cy="50292"/>
          </a:xfrm>
          <a:prstGeom prst="rect">
            <a:avLst/>
          </a:prstGeom>
          <a:solidFill>
            <a:srgbClr val="C9D2D4"/>
          </a:solidFill>
          <a:ln/>
        </p:spPr>
      </p:sp>
      <p:sp>
        <p:nvSpPr>
          <p:cNvPr id="10" name="Text 8"/>
          <p:cNvSpPr txBox="1"/>
          <p:nvPr/>
        </p:nvSpPr>
        <p:spPr>
          <a:xfrm>
            <a:off x="8357616" y="2194560"/>
            <a:ext cx="3566160" cy="777240"/>
          </a:xfrm>
          <a:prstGeom prst="rect">
            <a:avLst/>
          </a:prstGeom>
          <a:noFill/>
          <a:ln/>
        </p:spPr>
        <p:txBody>
          <a:bodyPr wrap="square" lIns="0" tIns="0" rIns="0" bIns="0" rtlCol="0" anchor="ctr"/>
          <a:lstStyle/>
          <a:p>
            <a:pPr indent="0" marL="0">
              <a:buNone/>
            </a:pPr>
            <a:r>
              <a:rPr lang="en-US" sz="3400" b="1" dirty="0">
                <a:solidFill>
                  <a:srgbClr val="14202B"/>
                </a:solidFill>
                <a:latin typeface="Calibri" pitchFamily="34" charset="0"/>
                <a:ea typeface="Calibri" pitchFamily="34" charset="-122"/>
                <a:cs typeface="Calibri" pitchFamily="34" charset="-120"/>
              </a:rPr>
              <a:t>950 ms</a:t>
            </a:r>
            <a:endParaRPr lang="en-US" sz="3400" dirty="0"/>
          </a:p>
        </p:txBody>
      </p:sp>
      <p:sp>
        <p:nvSpPr>
          <p:cNvPr id="11" name="Text 9"/>
          <p:cNvSpPr txBox="1"/>
          <p:nvPr/>
        </p:nvSpPr>
        <p:spPr>
          <a:xfrm>
            <a:off x="8357616" y="3063240"/>
            <a:ext cx="3566160" cy="914400"/>
          </a:xfrm>
          <a:prstGeom prst="rect">
            <a:avLst/>
          </a:prstGeom>
          <a:noFill/>
          <a:ln/>
        </p:spPr>
        <p:txBody>
          <a:bodyPr wrap="square" lIns="0" tIns="0" rIns="0" bIns="0" rtlCol="0" anchor="ctr"/>
          <a:lstStyle/>
          <a:p>
            <a:pPr indent="0" marL="0">
              <a:lnSpc>
                <a:spcPct val="120000"/>
              </a:lnSpc>
              <a:buNone/>
            </a:pPr>
            <a:r>
              <a:rPr lang="en-US" sz="1300" dirty="0">
                <a:solidFill>
                  <a:srgbClr val="7A8A94"/>
                </a:solidFill>
                <a:latin typeface="Calibri" pitchFamily="34" charset="0"/>
                <a:ea typeface="Calibri" pitchFamily="34" charset="-122"/>
                <a:cs typeface="Calibri" pitchFamily="34" charset="-120"/>
              </a:rPr>
              <a:t>Where Week 3 sat, with both issues together.</a:t>
            </a:r>
            <a:endParaRPr lang="en-US" sz="1300" dirty="0"/>
          </a:p>
        </p:txBody>
      </p:sp>
      <p:sp>
        <p:nvSpPr>
          <p:cNvPr id="12" name="Shape 10"/>
          <p:cNvSpPr/>
          <p:nvPr/>
        </p:nvSpPr>
        <p:spPr>
          <a:xfrm>
            <a:off x="566928" y="4663440"/>
            <a:ext cx="45720" cy="566928"/>
          </a:xfrm>
          <a:prstGeom prst="rect">
            <a:avLst/>
          </a:prstGeom>
          <a:solidFill>
            <a:srgbClr val="D6402C"/>
          </a:solidFill>
          <a:ln/>
        </p:spPr>
      </p:sp>
      <p:sp>
        <p:nvSpPr>
          <p:cNvPr id="13" name="Text 11"/>
          <p:cNvSpPr txBox="1"/>
          <p:nvPr/>
        </p:nvSpPr>
        <p:spPr>
          <a:xfrm>
            <a:off x="768096" y="4626864"/>
            <a:ext cx="10780776" cy="640080"/>
          </a:xfrm>
          <a:prstGeom prst="rect">
            <a:avLst/>
          </a:prstGeom>
          <a:noFill/>
          <a:ln/>
        </p:spPr>
        <p:txBody>
          <a:bodyPr wrap="square" lIns="0" tIns="0" rIns="0" bIns="0" rtlCol="0" anchor="ctr"/>
          <a:lstStyle/>
          <a:p>
            <a:pPr indent="0" marL="0">
              <a:lnSpc>
                <a:spcPct val="115000"/>
              </a:lnSpc>
              <a:buNone/>
            </a:pPr>
            <a:r>
              <a:rPr lang="en-US" sz="1450" dirty="0">
                <a:solidFill>
                  <a:srgbClr val="14202B"/>
                </a:solidFill>
                <a:latin typeface="Calibri" pitchFamily="34" charset="0"/>
                <a:ea typeface="Calibri" pitchFamily="34" charset="-122"/>
                <a:cs typeface="Calibri" pitchFamily="34" charset="-120"/>
              </a:rPr>
              <a:t>If I promise 450 ms and the result is 600 ms, the fix will look unsuccessful. So I give the realistic number first.</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1105509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What I can prove, and what I cannot</a:t>
            </a:r>
            <a:endParaRPr lang="en-US" sz="3200" dirty="0"/>
          </a:p>
        </p:txBody>
      </p:sp>
      <p:sp>
        <p:nvSpPr>
          <p:cNvPr id="3" name="Text 1"/>
          <p:cNvSpPr txBox="1"/>
          <p:nvPr/>
        </p:nvSpPr>
        <p:spPr>
          <a:xfrm>
            <a:off x="566928" y="1463040"/>
            <a:ext cx="5486400" cy="365760"/>
          </a:xfrm>
          <a:prstGeom prst="rect">
            <a:avLst/>
          </a:prstGeom>
          <a:noFill/>
          <a:ln/>
        </p:spPr>
        <p:txBody>
          <a:bodyPr wrap="square" lIns="0" tIns="0" rIns="0" bIns="0" rtlCol="0" anchor="ctr"/>
          <a:lstStyle/>
          <a:p>
            <a:pPr indent="0" marL="0">
              <a:buNone/>
            </a:pPr>
            <a:r>
              <a:rPr lang="en-US" sz="1700" b="1" dirty="0">
                <a:solidFill>
                  <a:srgbClr val="2F6F6B"/>
                </a:solidFill>
                <a:latin typeface="Calibri" pitchFamily="34" charset="0"/>
                <a:ea typeface="Calibri" pitchFamily="34" charset="-122"/>
                <a:cs typeface="Calibri" pitchFamily="34" charset="-120"/>
              </a:rPr>
              <a:t>What I can prove</a:t>
            </a:r>
            <a:endParaRPr lang="en-US" sz="1700" dirty="0"/>
          </a:p>
        </p:txBody>
      </p:sp>
      <p:sp>
        <p:nvSpPr>
          <p:cNvPr id="4" name="Text 2"/>
          <p:cNvSpPr txBox="1"/>
          <p:nvPr/>
        </p:nvSpPr>
        <p:spPr>
          <a:xfrm>
            <a:off x="566928" y="1965960"/>
            <a:ext cx="5486400" cy="2377440"/>
          </a:xfrm>
          <a:prstGeom prst="rect">
            <a:avLst/>
          </a:prstGeom>
          <a:noFill/>
          <a:ln/>
        </p:spPr>
        <p:txBody>
          <a:bodyPr wrap="square" lIns="0" tIns="0" rIns="0" bIns="0" rtlCol="0" anchor="ctr"/>
          <a:lstStyle/>
          <a:p>
            <a:pPr marL="342900" indent="-342900">
              <a:lnSpc>
                <a:spcPct val="120000"/>
              </a:lnSpc>
              <a:spcAft>
                <a:spcPts val="1100"/>
              </a:spcAft>
              <a:buSzPct val="100000"/>
              <a:buChar char="•"/>
            </a:pPr>
            <a:r>
              <a:rPr lang="en-US" sz="1350" dirty="0">
                <a:solidFill>
                  <a:srgbClr val="14202B"/>
                </a:solidFill>
                <a:latin typeface="Calibri" pitchFamily="34" charset="0"/>
                <a:ea typeface="Calibri" pitchFamily="34" charset="-122"/>
                <a:cs typeface="Calibri" pitchFamily="34" charset="-120"/>
              </a:rPr>
              <a:t>The timing. The drop begins on 25 August, before any release of ours.</a:t>
            </a:r>
            <a:endParaRPr lang="en-US" sz="1350" dirty="0"/>
          </a:p>
          <a:p>
            <a:pPr marL="342900" indent="-342900">
              <a:lnSpc>
                <a:spcPct val="120000"/>
              </a:lnSpc>
              <a:spcAft>
                <a:spcPts val="1100"/>
              </a:spcAft>
              <a:buSzPct val="100000"/>
              <a:buChar char="•"/>
            </a:pPr>
            <a:r>
              <a:rPr lang="en-US" sz="1350" dirty="0">
                <a:solidFill>
                  <a:srgbClr val="14202B"/>
                </a:solidFill>
                <a:latin typeface="Calibri" pitchFamily="34" charset="0"/>
                <a:ea typeface="Calibri" pitchFamily="34" charset="-122"/>
                <a:cs typeface="Calibri" pitchFamily="34" charset="-120"/>
              </a:rPr>
              <a:t>The isolation. One intent, claim_status, carries almost all of the drop.</a:t>
            </a:r>
            <a:endParaRPr lang="en-US" sz="1350" dirty="0"/>
          </a:p>
          <a:p>
            <a:pPr marL="342900" indent="-342900">
              <a:lnSpc>
                <a:spcPct val="120000"/>
              </a:lnSpc>
              <a:spcAft>
                <a:spcPts val="1100"/>
              </a:spcAft>
              <a:buSzPct val="100000"/>
              <a:buChar char="•"/>
            </a:pPr>
            <a:r>
              <a:rPr lang="en-US" sz="1350" dirty="0">
                <a:solidFill>
                  <a:srgbClr val="14202B"/>
                </a:solidFill>
                <a:latin typeface="Calibri" pitchFamily="34" charset="0"/>
                <a:ea typeface="Calibri" pitchFamily="34" charset="-122"/>
                <a:cs typeface="Calibri" pitchFamily="34" charset="-120"/>
              </a:rPr>
              <a:t>The mechanism. Agent-side reply time rose while backend time stayed flat.</a:t>
            </a:r>
            <a:endParaRPr lang="en-US" sz="1350" dirty="0"/>
          </a:p>
        </p:txBody>
      </p:sp>
      <p:sp>
        <p:nvSpPr>
          <p:cNvPr id="5" name="Text 3"/>
          <p:cNvSpPr txBox="1"/>
          <p:nvPr/>
        </p:nvSpPr>
        <p:spPr>
          <a:xfrm>
            <a:off x="7050024" y="1463040"/>
            <a:ext cx="5486400" cy="365760"/>
          </a:xfrm>
          <a:prstGeom prst="rect">
            <a:avLst/>
          </a:prstGeom>
          <a:noFill/>
          <a:ln/>
        </p:spPr>
        <p:txBody>
          <a:bodyPr wrap="square" lIns="0" tIns="0" rIns="0" bIns="0" rtlCol="0" anchor="ctr"/>
          <a:lstStyle/>
          <a:p>
            <a:pPr indent="0" marL="0">
              <a:buNone/>
            </a:pPr>
            <a:r>
              <a:rPr lang="en-US" sz="1700" b="1" dirty="0">
                <a:solidFill>
                  <a:srgbClr val="7A8A94"/>
                </a:solidFill>
                <a:latin typeface="Calibri" pitchFamily="34" charset="0"/>
                <a:ea typeface="Calibri" pitchFamily="34" charset="-122"/>
                <a:cs typeface="Calibri" pitchFamily="34" charset="-120"/>
              </a:rPr>
              <a:t>What I cannot</a:t>
            </a:r>
            <a:endParaRPr lang="en-US" sz="1700" dirty="0"/>
          </a:p>
        </p:txBody>
      </p:sp>
      <p:sp>
        <p:nvSpPr>
          <p:cNvPr id="6" name="Text 4"/>
          <p:cNvSpPr txBox="1"/>
          <p:nvPr/>
        </p:nvSpPr>
        <p:spPr>
          <a:xfrm>
            <a:off x="7050024" y="1965960"/>
            <a:ext cx="5486400" cy="2377440"/>
          </a:xfrm>
          <a:prstGeom prst="rect">
            <a:avLst/>
          </a:prstGeom>
          <a:noFill/>
          <a:ln/>
        </p:spPr>
        <p:txBody>
          <a:bodyPr wrap="square" lIns="0" tIns="0" rIns="0" bIns="0" rtlCol="0" anchor="ctr"/>
          <a:lstStyle/>
          <a:p>
            <a:pPr marL="342900" indent="-342900">
              <a:lnSpc>
                <a:spcPct val="120000"/>
              </a:lnSpc>
              <a:spcAft>
                <a:spcPts val="1100"/>
              </a:spcAft>
              <a:buSzPct val="100000"/>
              <a:buChar char="•"/>
            </a:pPr>
            <a:r>
              <a:rPr lang="en-US" sz="1350" dirty="0">
                <a:solidFill>
                  <a:srgbClr val="14202B"/>
                </a:solidFill>
                <a:latin typeface="Calibri" pitchFamily="34" charset="0"/>
                <a:ea typeface="Calibri" pitchFamily="34" charset="-122"/>
                <a:cs typeface="Calibri" pitchFamily="34" charset="-120"/>
              </a:rPr>
              <a:t>The exact line of code. I do not have the prompt diff or the new TPA format document.</a:t>
            </a:r>
            <a:endParaRPr lang="en-US" sz="1350" dirty="0"/>
          </a:p>
          <a:p>
            <a:pPr marL="342900" indent="-342900">
              <a:lnSpc>
                <a:spcPct val="120000"/>
              </a:lnSpc>
              <a:spcAft>
                <a:spcPts val="1100"/>
              </a:spcAft>
              <a:buSzPct val="100000"/>
              <a:buChar char="•"/>
            </a:pPr>
            <a:r>
              <a:rPr lang="en-US" sz="1350" dirty="0">
                <a:solidFill>
                  <a:srgbClr val="14202B"/>
                </a:solidFill>
                <a:latin typeface="Calibri" pitchFamily="34" charset="0"/>
                <a:ea typeface="Calibri" pitchFamily="34" charset="-122"/>
                <a:cs typeface="Calibri" pitchFamily="34" charset="-120"/>
              </a:rPr>
              <a:t>With that document, I could confirm the parsing failure directly and measure how many policies are affected.</a:t>
            </a:r>
            <a:endParaRPr lang="en-US" sz="1350" dirty="0"/>
          </a:p>
        </p:txBody>
      </p:sp>
      <p:sp>
        <p:nvSpPr>
          <p:cNvPr id="7" name="Shape 5"/>
          <p:cNvSpPr/>
          <p:nvPr/>
        </p:nvSpPr>
        <p:spPr>
          <a:xfrm>
            <a:off x="566928" y="4846320"/>
            <a:ext cx="45720" cy="566928"/>
          </a:xfrm>
          <a:prstGeom prst="rect">
            <a:avLst/>
          </a:prstGeom>
          <a:solidFill>
            <a:srgbClr val="D6402C"/>
          </a:solidFill>
          <a:ln/>
        </p:spPr>
      </p:sp>
      <p:sp>
        <p:nvSpPr>
          <p:cNvPr id="8" name="Text 6"/>
          <p:cNvSpPr txBox="1"/>
          <p:nvPr/>
        </p:nvSpPr>
        <p:spPr>
          <a:xfrm>
            <a:off x="768096" y="4809744"/>
            <a:ext cx="10780776" cy="640080"/>
          </a:xfrm>
          <a:prstGeom prst="rect">
            <a:avLst/>
          </a:prstGeom>
          <a:noFill/>
          <a:ln/>
        </p:spPr>
        <p:txBody>
          <a:bodyPr wrap="square" lIns="0" tIns="0" rIns="0" bIns="0" rtlCol="0" anchor="ctr"/>
          <a:lstStyle/>
          <a:p>
            <a:pPr indent="0" marL="0">
              <a:lnSpc>
                <a:spcPct val="115000"/>
              </a:lnSpc>
              <a:buNone/>
            </a:pPr>
            <a:r>
              <a:rPr lang="en-US" sz="1450" dirty="0">
                <a:solidFill>
                  <a:srgbClr val="14202B"/>
                </a:solidFill>
                <a:latin typeface="Calibri" pitchFamily="34" charset="0"/>
                <a:ea typeface="Calibri" pitchFamily="34" charset="-122"/>
                <a:cs typeface="Calibri" pitchFamily="34" charset="-120"/>
              </a:rPr>
              <a:t>Three separate signals point to the same thing: claim reference matching stopped working after 25 August.</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4F3"/>
        </a:solidFill>
      </p:bgPr>
    </p:bg>
    <p:spTree>
      <p:nvGrpSpPr>
        <p:cNvPr id="1" name=""/>
        <p:cNvGrpSpPr/>
        <p:nvPr/>
      </p:nvGrpSpPr>
      <p:grpSpPr>
        <a:xfrm>
          <a:off x="0" y="0"/>
          <a:ext cx="0" cy="0"/>
          <a:chOff x="0" y="0"/>
          <a:chExt cx="0" cy="0"/>
        </a:xfrm>
      </p:grpSpPr>
      <p:sp>
        <p:nvSpPr>
          <p:cNvPr id="2" name="Text 0"/>
          <p:cNvSpPr txBox="1"/>
          <p:nvPr/>
        </p:nvSpPr>
        <p:spPr>
          <a:xfrm>
            <a:off x="566928" y="411480"/>
            <a:ext cx="11055096" cy="731520"/>
          </a:xfrm>
          <a:prstGeom prst="rect">
            <a:avLst/>
          </a:prstGeom>
          <a:noFill/>
          <a:ln/>
        </p:spPr>
        <p:txBody>
          <a:bodyPr wrap="square" lIns="0" tIns="0" rIns="0" bIns="0" rtlCol="0" anchor="ctr"/>
          <a:lstStyle/>
          <a:p>
            <a:pPr algn="l" indent="0" marL="0">
              <a:buNone/>
            </a:pPr>
            <a:r>
              <a:rPr lang="en-US" sz="3200" b="1" dirty="0">
                <a:solidFill>
                  <a:srgbClr val="14202B"/>
                </a:solidFill>
                <a:latin typeface="Calibri" pitchFamily="34" charset="0"/>
                <a:ea typeface="Calibri" pitchFamily="34" charset="-122"/>
                <a:cs typeface="Calibri" pitchFamily="34" charset="-120"/>
              </a:rPr>
              <a:t>Six numbers to remember</a:t>
            </a:r>
            <a:endParaRPr lang="en-US" sz="3200" dirty="0"/>
          </a:p>
        </p:txBody>
      </p:sp>
      <p:sp>
        <p:nvSpPr>
          <p:cNvPr id="3" name="Shape 1"/>
          <p:cNvSpPr/>
          <p:nvPr/>
        </p:nvSpPr>
        <p:spPr>
          <a:xfrm>
            <a:off x="566928" y="1463040"/>
            <a:ext cx="3566160" cy="50292"/>
          </a:xfrm>
          <a:prstGeom prst="rect">
            <a:avLst/>
          </a:prstGeom>
          <a:solidFill>
            <a:srgbClr val="D6402C"/>
          </a:solidFill>
          <a:ln/>
        </p:spPr>
      </p:sp>
      <p:sp>
        <p:nvSpPr>
          <p:cNvPr id="4" name="Text 2"/>
          <p:cNvSpPr txBox="1"/>
          <p:nvPr/>
        </p:nvSpPr>
        <p:spPr>
          <a:xfrm>
            <a:off x="566928" y="1664208"/>
            <a:ext cx="3566160" cy="548640"/>
          </a:xfrm>
          <a:prstGeom prst="rect">
            <a:avLst/>
          </a:prstGeom>
          <a:noFill/>
          <a:ln/>
        </p:spPr>
        <p:txBody>
          <a:bodyPr wrap="square" lIns="0" tIns="0" rIns="0" bIns="0" rtlCol="0" anchor="ctr"/>
          <a:lstStyle/>
          <a:p>
            <a:pPr indent="0" marL="0">
              <a:buNone/>
            </a:pPr>
            <a:r>
              <a:rPr lang="en-US" sz="2400" b="1" dirty="0">
                <a:solidFill>
                  <a:srgbClr val="14202B"/>
                </a:solidFill>
                <a:latin typeface="Calibri" pitchFamily="34" charset="0"/>
                <a:ea typeface="Calibri" pitchFamily="34" charset="-122"/>
                <a:cs typeface="Calibri" pitchFamily="34" charset="-120"/>
              </a:rPr>
              <a:t>71.5% → 51.1%</a:t>
            </a:r>
            <a:endParaRPr lang="en-US" sz="2400" dirty="0"/>
          </a:p>
        </p:txBody>
      </p:sp>
      <p:sp>
        <p:nvSpPr>
          <p:cNvPr id="5" name="Text 3"/>
          <p:cNvSpPr txBox="1"/>
          <p:nvPr/>
        </p:nvSpPr>
        <p:spPr>
          <a:xfrm>
            <a:off x="566928" y="2267712"/>
            <a:ext cx="3566160" cy="548640"/>
          </a:xfrm>
          <a:prstGeom prst="rect">
            <a:avLst/>
          </a:prstGeom>
          <a:noFill/>
          <a:ln/>
        </p:spPr>
        <p:txBody>
          <a:bodyPr wrap="square" lIns="0" tIns="0" rIns="0" bIns="0" rtlCol="0" anchor="ctr"/>
          <a:lstStyle/>
          <a:p>
            <a:pPr indent="0" marL="0">
              <a:lnSpc>
                <a:spcPct val="115000"/>
              </a:lnSpc>
              <a:buNone/>
            </a:pPr>
            <a:r>
              <a:rPr lang="en-US" sz="1250" dirty="0">
                <a:solidFill>
                  <a:srgbClr val="7A8A94"/>
                </a:solidFill>
                <a:latin typeface="Calibri" pitchFamily="34" charset="0"/>
                <a:ea typeface="Calibri" pitchFamily="34" charset="-122"/>
                <a:cs typeface="Calibri" pitchFamily="34" charset="-120"/>
              </a:rPr>
              <a:t>containment, over three weeks</a:t>
            </a:r>
            <a:endParaRPr lang="en-US" sz="1250" dirty="0"/>
          </a:p>
        </p:txBody>
      </p:sp>
      <p:sp>
        <p:nvSpPr>
          <p:cNvPr id="6" name="Shape 4"/>
          <p:cNvSpPr/>
          <p:nvPr/>
        </p:nvSpPr>
        <p:spPr>
          <a:xfrm>
            <a:off x="4462272" y="1463040"/>
            <a:ext cx="3566160" cy="50292"/>
          </a:xfrm>
          <a:prstGeom prst="rect">
            <a:avLst/>
          </a:prstGeom>
          <a:solidFill>
            <a:srgbClr val="D6402C"/>
          </a:solidFill>
          <a:ln/>
        </p:spPr>
      </p:sp>
      <p:sp>
        <p:nvSpPr>
          <p:cNvPr id="7" name="Text 5"/>
          <p:cNvSpPr txBox="1"/>
          <p:nvPr/>
        </p:nvSpPr>
        <p:spPr>
          <a:xfrm>
            <a:off x="4462272" y="1664208"/>
            <a:ext cx="3566160" cy="548640"/>
          </a:xfrm>
          <a:prstGeom prst="rect">
            <a:avLst/>
          </a:prstGeom>
          <a:noFill/>
          <a:ln/>
        </p:spPr>
        <p:txBody>
          <a:bodyPr wrap="square" lIns="0" tIns="0" rIns="0" bIns="0" rtlCol="0" anchor="ctr"/>
          <a:lstStyle/>
          <a:p>
            <a:pPr indent="0" marL="0">
              <a:buNone/>
            </a:pPr>
            <a:r>
              <a:rPr lang="en-US" sz="2400" b="1" dirty="0">
                <a:solidFill>
                  <a:srgbClr val="14202B"/>
                </a:solidFill>
                <a:latin typeface="Calibri" pitchFamily="34" charset="0"/>
                <a:ea typeface="Calibri" pitchFamily="34" charset="-122"/>
                <a:cs typeface="Calibri" pitchFamily="34" charset="-120"/>
              </a:rPr>
              <a:t>20 pp</a:t>
            </a:r>
            <a:endParaRPr lang="en-US" sz="2400" dirty="0"/>
          </a:p>
        </p:txBody>
      </p:sp>
      <p:sp>
        <p:nvSpPr>
          <p:cNvPr id="8" name="Text 6"/>
          <p:cNvSpPr txBox="1"/>
          <p:nvPr/>
        </p:nvSpPr>
        <p:spPr>
          <a:xfrm>
            <a:off x="4462272" y="2267712"/>
            <a:ext cx="3566160" cy="548640"/>
          </a:xfrm>
          <a:prstGeom prst="rect">
            <a:avLst/>
          </a:prstGeom>
          <a:noFill/>
          <a:ln/>
        </p:spPr>
        <p:txBody>
          <a:bodyPr wrap="square" lIns="0" tIns="0" rIns="0" bIns="0" rtlCol="0" anchor="ctr"/>
          <a:lstStyle/>
          <a:p>
            <a:pPr indent="0" marL="0">
              <a:lnSpc>
                <a:spcPct val="115000"/>
              </a:lnSpc>
              <a:buNone/>
            </a:pPr>
            <a:r>
              <a:rPr lang="en-US" sz="1250" dirty="0">
                <a:solidFill>
                  <a:srgbClr val="7A8A94"/>
                </a:solidFill>
                <a:latin typeface="Calibri" pitchFamily="34" charset="0"/>
                <a:ea typeface="Calibri" pitchFamily="34" charset="-122"/>
                <a:cs typeface="Calibri" pitchFamily="34" charset="-120"/>
              </a:rPr>
              <a:t>claim_status gap, v14 vs v15</a:t>
            </a:r>
            <a:endParaRPr lang="en-US" sz="1250" dirty="0"/>
          </a:p>
        </p:txBody>
      </p:sp>
      <p:sp>
        <p:nvSpPr>
          <p:cNvPr id="9" name="Shape 7"/>
          <p:cNvSpPr/>
          <p:nvPr/>
        </p:nvSpPr>
        <p:spPr>
          <a:xfrm>
            <a:off x="8357616" y="1463040"/>
            <a:ext cx="3566160" cy="50292"/>
          </a:xfrm>
          <a:prstGeom prst="rect">
            <a:avLst/>
          </a:prstGeom>
          <a:solidFill>
            <a:srgbClr val="D6402C"/>
          </a:solidFill>
          <a:ln/>
        </p:spPr>
      </p:sp>
      <p:sp>
        <p:nvSpPr>
          <p:cNvPr id="10" name="Text 8"/>
          <p:cNvSpPr txBox="1"/>
          <p:nvPr/>
        </p:nvSpPr>
        <p:spPr>
          <a:xfrm>
            <a:off x="8357616" y="1664208"/>
            <a:ext cx="3566160" cy="548640"/>
          </a:xfrm>
          <a:prstGeom prst="rect">
            <a:avLst/>
          </a:prstGeom>
          <a:noFill/>
          <a:ln/>
        </p:spPr>
        <p:txBody>
          <a:bodyPr wrap="square" lIns="0" tIns="0" rIns="0" bIns="0" rtlCol="0" anchor="ctr"/>
          <a:lstStyle/>
          <a:p>
            <a:pPr indent="0" marL="0">
              <a:buNone/>
            </a:pPr>
            <a:r>
              <a:rPr lang="en-US" sz="2400" b="1" dirty="0">
                <a:solidFill>
                  <a:srgbClr val="14202B"/>
                </a:solidFill>
                <a:latin typeface="Calibri" pitchFamily="34" charset="0"/>
                <a:ea typeface="Calibri" pitchFamily="34" charset="-122"/>
                <a:cs typeface="Calibri" pitchFamily="34" charset="-120"/>
              </a:rPr>
              <a:t>445 → 950 ms</a:t>
            </a:r>
            <a:endParaRPr lang="en-US" sz="2400" dirty="0"/>
          </a:p>
        </p:txBody>
      </p:sp>
      <p:sp>
        <p:nvSpPr>
          <p:cNvPr id="11" name="Text 9"/>
          <p:cNvSpPr txBox="1"/>
          <p:nvPr/>
        </p:nvSpPr>
        <p:spPr>
          <a:xfrm>
            <a:off x="8357616" y="2267712"/>
            <a:ext cx="3566160" cy="548640"/>
          </a:xfrm>
          <a:prstGeom prst="rect">
            <a:avLst/>
          </a:prstGeom>
          <a:noFill/>
          <a:ln/>
        </p:spPr>
        <p:txBody>
          <a:bodyPr wrap="square" lIns="0" tIns="0" rIns="0" bIns="0" rtlCol="0" anchor="ctr"/>
          <a:lstStyle/>
          <a:p>
            <a:pPr indent="0" marL="0">
              <a:lnSpc>
                <a:spcPct val="115000"/>
              </a:lnSpc>
              <a:buNone/>
            </a:pPr>
            <a:r>
              <a:rPr lang="en-US" sz="1250" dirty="0">
                <a:solidFill>
                  <a:srgbClr val="7A8A94"/>
                </a:solidFill>
                <a:latin typeface="Calibri" pitchFamily="34" charset="0"/>
                <a:ea typeface="Calibri" pitchFamily="34" charset="-122"/>
                <a:cs typeface="Calibri" pitchFamily="34" charset="-120"/>
              </a:rPr>
              <a:t>claim_status reply time</a:t>
            </a:r>
            <a:endParaRPr lang="en-US" sz="1250" dirty="0"/>
          </a:p>
        </p:txBody>
      </p:sp>
      <p:sp>
        <p:nvSpPr>
          <p:cNvPr id="12" name="Shape 10"/>
          <p:cNvSpPr/>
          <p:nvPr/>
        </p:nvSpPr>
        <p:spPr>
          <a:xfrm>
            <a:off x="566928" y="3246120"/>
            <a:ext cx="3566160" cy="50292"/>
          </a:xfrm>
          <a:prstGeom prst="rect">
            <a:avLst/>
          </a:prstGeom>
          <a:solidFill>
            <a:srgbClr val="D6402C"/>
          </a:solidFill>
          <a:ln/>
        </p:spPr>
      </p:sp>
      <p:sp>
        <p:nvSpPr>
          <p:cNvPr id="13" name="Text 11"/>
          <p:cNvSpPr txBox="1"/>
          <p:nvPr/>
        </p:nvSpPr>
        <p:spPr>
          <a:xfrm>
            <a:off x="566928" y="3447288"/>
            <a:ext cx="3566160" cy="548640"/>
          </a:xfrm>
          <a:prstGeom prst="rect">
            <a:avLst/>
          </a:prstGeom>
          <a:noFill/>
          <a:ln/>
        </p:spPr>
        <p:txBody>
          <a:bodyPr wrap="square" lIns="0" tIns="0" rIns="0" bIns="0" rtlCol="0" anchor="ctr"/>
          <a:lstStyle/>
          <a:p>
            <a:pPr indent="0" marL="0">
              <a:buNone/>
            </a:pPr>
            <a:r>
              <a:rPr lang="en-US" sz="2400" b="1" dirty="0">
                <a:solidFill>
                  <a:srgbClr val="14202B"/>
                </a:solidFill>
                <a:latin typeface="Calibri" pitchFamily="34" charset="0"/>
                <a:ea typeface="Calibri" pitchFamily="34" charset="-122"/>
                <a:cs typeface="Calibri" pitchFamily="34" charset="-120"/>
              </a:rPr>
              <a:t>25 August</a:t>
            </a:r>
            <a:endParaRPr lang="en-US" sz="2400" dirty="0"/>
          </a:p>
        </p:txBody>
      </p:sp>
      <p:sp>
        <p:nvSpPr>
          <p:cNvPr id="14" name="Text 12"/>
          <p:cNvSpPr txBox="1"/>
          <p:nvPr/>
        </p:nvSpPr>
        <p:spPr>
          <a:xfrm>
            <a:off x="566928" y="4050792"/>
            <a:ext cx="3566160" cy="548640"/>
          </a:xfrm>
          <a:prstGeom prst="rect">
            <a:avLst/>
          </a:prstGeom>
          <a:noFill/>
          <a:ln/>
        </p:spPr>
        <p:txBody>
          <a:bodyPr wrap="square" lIns="0" tIns="0" rIns="0" bIns="0" rtlCol="0" anchor="ctr"/>
          <a:lstStyle/>
          <a:p>
            <a:pPr indent="0" marL="0">
              <a:lnSpc>
                <a:spcPct val="115000"/>
              </a:lnSpc>
              <a:buNone/>
            </a:pPr>
            <a:r>
              <a:rPr lang="en-US" sz="1250" dirty="0">
                <a:solidFill>
                  <a:srgbClr val="7A8A94"/>
                </a:solidFill>
                <a:latin typeface="Calibri" pitchFamily="34" charset="0"/>
                <a:ea typeface="Calibri" pitchFamily="34" charset="-122"/>
                <a:cs typeface="Calibri" pitchFamily="34" charset="-120"/>
              </a:rPr>
              <a:t>the drop begins, with no release of ours</a:t>
            </a:r>
            <a:endParaRPr lang="en-US" sz="1250" dirty="0"/>
          </a:p>
        </p:txBody>
      </p:sp>
      <p:sp>
        <p:nvSpPr>
          <p:cNvPr id="15" name="Shape 13"/>
          <p:cNvSpPr/>
          <p:nvPr/>
        </p:nvSpPr>
        <p:spPr>
          <a:xfrm>
            <a:off x="4462272" y="3246120"/>
            <a:ext cx="3566160" cy="50292"/>
          </a:xfrm>
          <a:prstGeom prst="rect">
            <a:avLst/>
          </a:prstGeom>
          <a:solidFill>
            <a:srgbClr val="D6402C"/>
          </a:solidFill>
          <a:ln/>
        </p:spPr>
      </p:sp>
      <p:sp>
        <p:nvSpPr>
          <p:cNvPr id="16" name="Text 14"/>
          <p:cNvSpPr txBox="1"/>
          <p:nvPr/>
        </p:nvSpPr>
        <p:spPr>
          <a:xfrm>
            <a:off x="4462272" y="3447288"/>
            <a:ext cx="3566160" cy="548640"/>
          </a:xfrm>
          <a:prstGeom prst="rect">
            <a:avLst/>
          </a:prstGeom>
          <a:noFill/>
          <a:ln/>
        </p:spPr>
        <p:txBody>
          <a:bodyPr wrap="square" lIns="0" tIns="0" rIns="0" bIns="0" rtlCol="0" anchor="ctr"/>
          <a:lstStyle/>
          <a:p>
            <a:pPr indent="0" marL="0">
              <a:buNone/>
            </a:pPr>
            <a:r>
              <a:rPr lang="en-US" sz="2400" b="1" dirty="0">
                <a:solidFill>
                  <a:srgbClr val="14202B"/>
                </a:solidFill>
                <a:latin typeface="Calibri" pitchFamily="34" charset="0"/>
                <a:ea typeface="Calibri" pitchFamily="34" charset="-122"/>
                <a:cs typeface="Calibri" pitchFamily="34" charset="-120"/>
              </a:rPr>
              <a:t>+63%</a:t>
            </a:r>
            <a:endParaRPr lang="en-US" sz="2400" dirty="0"/>
          </a:p>
        </p:txBody>
      </p:sp>
      <p:sp>
        <p:nvSpPr>
          <p:cNvPr id="17" name="Text 15"/>
          <p:cNvSpPr txBox="1"/>
          <p:nvPr/>
        </p:nvSpPr>
        <p:spPr>
          <a:xfrm>
            <a:off x="4462272" y="4050792"/>
            <a:ext cx="3566160" cy="548640"/>
          </a:xfrm>
          <a:prstGeom prst="rect">
            <a:avLst/>
          </a:prstGeom>
          <a:noFill/>
          <a:ln/>
        </p:spPr>
        <p:txBody>
          <a:bodyPr wrap="square" lIns="0" tIns="0" rIns="0" bIns="0" rtlCol="0" anchor="ctr"/>
          <a:lstStyle/>
          <a:p>
            <a:pPr indent="0" marL="0">
              <a:lnSpc>
                <a:spcPct val="115000"/>
              </a:lnSpc>
              <a:buNone/>
            </a:pPr>
            <a:r>
              <a:rPr lang="en-US" sz="1250" dirty="0">
                <a:solidFill>
                  <a:srgbClr val="7A8A94"/>
                </a:solidFill>
                <a:latin typeface="Calibri" pitchFamily="34" charset="0"/>
                <a:ea typeface="Calibri" pitchFamily="34" charset="-122"/>
                <a:cs typeface="Calibri" pitchFamily="34" charset="-120"/>
              </a:rPr>
              <a:t>human agent cost</a:t>
            </a:r>
            <a:endParaRPr lang="en-US" sz="1250" dirty="0"/>
          </a:p>
        </p:txBody>
      </p:sp>
      <p:sp>
        <p:nvSpPr>
          <p:cNvPr id="18" name="Shape 16"/>
          <p:cNvSpPr/>
          <p:nvPr/>
        </p:nvSpPr>
        <p:spPr>
          <a:xfrm>
            <a:off x="8357616" y="3246120"/>
            <a:ext cx="3566160" cy="50292"/>
          </a:xfrm>
          <a:prstGeom prst="rect">
            <a:avLst/>
          </a:prstGeom>
          <a:solidFill>
            <a:srgbClr val="D6402C"/>
          </a:solidFill>
          <a:ln/>
        </p:spPr>
      </p:sp>
      <p:sp>
        <p:nvSpPr>
          <p:cNvPr id="19" name="Text 17"/>
          <p:cNvSpPr txBox="1"/>
          <p:nvPr/>
        </p:nvSpPr>
        <p:spPr>
          <a:xfrm>
            <a:off x="8357616" y="3447288"/>
            <a:ext cx="3566160" cy="548640"/>
          </a:xfrm>
          <a:prstGeom prst="rect">
            <a:avLst/>
          </a:prstGeom>
          <a:noFill/>
          <a:ln/>
        </p:spPr>
        <p:txBody>
          <a:bodyPr wrap="square" lIns="0" tIns="0" rIns="0" bIns="0" rtlCol="0" anchor="ctr"/>
          <a:lstStyle/>
          <a:p>
            <a:pPr indent="0" marL="0">
              <a:buNone/>
            </a:pPr>
            <a:r>
              <a:rPr lang="en-US" sz="2400" b="1" dirty="0">
                <a:solidFill>
                  <a:srgbClr val="14202B"/>
                </a:solidFill>
                <a:latin typeface="Calibri" pitchFamily="34" charset="0"/>
                <a:ea typeface="Calibri" pitchFamily="34" charset="-122"/>
                <a:cs typeface="Calibri" pitchFamily="34" charset="-120"/>
              </a:rPr>
              <a:t>4.3 → 3.6</a:t>
            </a:r>
            <a:endParaRPr lang="en-US" sz="2400" dirty="0"/>
          </a:p>
        </p:txBody>
      </p:sp>
      <p:sp>
        <p:nvSpPr>
          <p:cNvPr id="20" name="Text 18"/>
          <p:cNvSpPr txBox="1"/>
          <p:nvPr/>
        </p:nvSpPr>
        <p:spPr>
          <a:xfrm>
            <a:off x="8357616" y="4050792"/>
            <a:ext cx="3566160" cy="548640"/>
          </a:xfrm>
          <a:prstGeom prst="rect">
            <a:avLst/>
          </a:prstGeom>
          <a:noFill/>
          <a:ln/>
        </p:spPr>
        <p:txBody>
          <a:bodyPr wrap="square" lIns="0" tIns="0" rIns="0" bIns="0" rtlCol="0" anchor="ctr"/>
          <a:lstStyle/>
          <a:p>
            <a:pPr indent="0" marL="0">
              <a:lnSpc>
                <a:spcPct val="115000"/>
              </a:lnSpc>
              <a:buNone/>
            </a:pPr>
            <a:r>
              <a:rPr lang="en-US" sz="1250" dirty="0">
                <a:solidFill>
                  <a:srgbClr val="7A8A94"/>
                </a:solidFill>
                <a:latin typeface="Calibri" pitchFamily="34" charset="0"/>
                <a:ea typeface="Calibri" pitchFamily="34" charset="-122"/>
                <a:cs typeface="Calibri" pitchFamily="34" charset="-120"/>
              </a:rPr>
              <a:t>satisfaction on transferred calls</a:t>
            </a:r>
            <a:endParaRPr lang="en-US" sz="1250" dirty="0"/>
          </a:p>
        </p:txBody>
      </p:sp>
      <p:sp>
        <p:nvSpPr>
          <p:cNvPr id="21" name="Shape 19"/>
          <p:cNvSpPr/>
          <p:nvPr/>
        </p:nvSpPr>
        <p:spPr>
          <a:xfrm>
            <a:off x="566928" y="5349240"/>
            <a:ext cx="45720" cy="566928"/>
          </a:xfrm>
          <a:prstGeom prst="rect">
            <a:avLst/>
          </a:prstGeom>
          <a:solidFill>
            <a:srgbClr val="D6402C"/>
          </a:solidFill>
          <a:ln/>
        </p:spPr>
      </p:sp>
      <p:sp>
        <p:nvSpPr>
          <p:cNvPr id="22" name="Text 20"/>
          <p:cNvSpPr txBox="1"/>
          <p:nvPr/>
        </p:nvSpPr>
        <p:spPr>
          <a:xfrm>
            <a:off x="768096" y="5312664"/>
            <a:ext cx="10780776" cy="640080"/>
          </a:xfrm>
          <a:prstGeom prst="rect">
            <a:avLst/>
          </a:prstGeom>
          <a:noFill/>
          <a:ln/>
        </p:spPr>
        <p:txBody>
          <a:bodyPr wrap="square" lIns="0" tIns="0" rIns="0" bIns="0" rtlCol="0" anchor="ctr"/>
          <a:lstStyle/>
          <a:p>
            <a:pPr indent="0" marL="0">
              <a:lnSpc>
                <a:spcPct val="115000"/>
              </a:lnSpc>
              <a:buNone/>
            </a:pPr>
            <a:r>
              <a:rPr lang="en-US" sz="1450" dirty="0">
                <a:solidFill>
                  <a:srgbClr val="14202B"/>
                </a:solidFill>
                <a:latin typeface="Calibri" pitchFamily="34" charset="0"/>
                <a:ea typeface="Calibri" pitchFamily="34" charset="-122"/>
                <a:cs typeface="Calibri" pitchFamily="34" charset="-120"/>
              </a:rPr>
              <a:t>A data change on Kestrel’s side stopped claim lookups from matching. Our 28 August update added to the delay. Both can be addressed this week.</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Kestrel Health Insurance Analysis</dc:title>
  <dc:subject>PptxGenJS Presentation</dc:subject>
  <dc:creator>Divyaansh Vats</dc:creator>
  <cp:lastModifiedBy>Divyaansh Vats</cp:lastModifiedBy>
  <cp:revision>1</cp:revision>
  <dcterms:created xsi:type="dcterms:W3CDTF">2026-09-18T22:03:54Z</dcterms:created>
  <dcterms:modified xsi:type="dcterms:W3CDTF">2026-09-18T22:03:54Z</dcterms:modified>
</cp:coreProperties>
</file>